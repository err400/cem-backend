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5f0c7c4f3cb773d5_3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h5f0c7c4f3cb773d5_3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h5f0c7c4f3cb773d5_3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5f0c7c4f3cb773d5_3_8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h5f0c7c4f3cb773d5_3_8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h5f0c7c4f3cb773d5_3_8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5f0c7c4f3cb773d5_3_1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h5f0c7c4f3cb773d5_3_1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h5f0c7c4f3cb773d5_3_1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h5f0c7c4f3cb773d5_3_1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h5f0c7c4f3cb773d5_3_1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h5f0c7c4f3cb773d5_3_15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5f0c7c4f3cb773d5_3_1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h5f0c7c4f3cb773d5_3_1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h5f0c7c4f3cb773d5_3_1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5f0c7c4f3cb773d5_3_2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h5f0c7c4f3cb773d5_3_2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h5f0c7c4f3cb773d5_3_2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5f0c7c4f3cb773d5_3_2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h5f0c7c4f3cb773d5_3_2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h5f0c7c4f3cb773d5_3_25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h5f0c7c4f3cb773d5_3_29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h5f0c7c4f3cb773d5_3_2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h5f0c7c4f3cb773d5_3_29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h5f0c7c4f3cb773d5_3_3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h5f0c7c4f3cb773d5_3_3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h5f0c7c4f3cb773d5_3_3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h5f0c7c4f3cb773d5_3_3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h5f0c7c4f3cb773d5_3_38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h5f0c7c4f3cb773d5_3_38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h5f0c7c4f3cb773d5_3_4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 name="Google Shape;490;h5f0c7c4f3cb773d5_3_4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h5f0c7c4f3cb773d5_3_4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5f0c7c4f3cb773d5_3_4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h5f0c7c4f3cb773d5_3_46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h5f0c7c4f3cb773d5_3_46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h5f0c7c4f3cb773d5_3_4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h5f0c7c4f3cb773d5_3_4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h5f0c7c4f3cb773d5_3_48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50" y="1597819"/>
            <a:ext cx="5829300"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00" y="2914650"/>
            <a:ext cx="4800600"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35" y="3305175"/>
            <a:ext cx="5829300"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35" y="2180035"/>
            <a:ext cx="5829300"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0" y="1200150"/>
            <a:ext cx="3028950"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150" y="1200150"/>
            <a:ext cx="3028950"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0" y="1151335"/>
            <a:ext cx="3030141"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0" y="1631156"/>
            <a:ext cx="3030141"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769" y="1151335"/>
            <a:ext cx="3031331"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769" y="1631156"/>
            <a:ext cx="3031331"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0" y="204788"/>
            <a:ext cx="225623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287" y="204788"/>
            <a:ext cx="3833813"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0" y="1076325"/>
            <a:ext cx="225623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16" y="3600450"/>
            <a:ext cx="411480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16" y="459581"/>
            <a:ext cx="4114800" cy="3086100"/>
          </a:xfrm>
          <a:prstGeom prst="rect">
            <a:avLst/>
          </a:prstGeom>
          <a:noFill/>
          <a:ln>
            <a:noFill/>
          </a:ln>
        </p:spPr>
      </p:sp>
      <p:sp>
        <p:nvSpPr>
          <p:cNvPr id="109" name="Google Shape;109;p22"/>
          <p:cNvSpPr txBox="1"/>
          <p:nvPr>
            <p:ph idx="1" type="body"/>
          </p:nvPr>
        </p:nvSpPr>
        <p:spPr>
          <a:xfrm>
            <a:off x="1344216" y="4025503"/>
            <a:ext cx="411480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764" y="-188714"/>
            <a:ext cx="3394472" cy="61722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253" y="1628775"/>
            <a:ext cx="4388644" cy="15430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03" y="142875"/>
            <a:ext cx="4388644" cy="451485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4.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8.png"/><Relationship Id="rId10" Type="http://schemas.openxmlformats.org/officeDocument/2006/relationships/image" Target="../media/image21.png"/><Relationship Id="rId9" Type="http://schemas.openxmlformats.org/officeDocument/2006/relationships/image" Target="../media/image29.png"/><Relationship Id="rId5" Type="http://schemas.openxmlformats.org/officeDocument/2006/relationships/image" Target="../media/image6.png"/><Relationship Id="rId6" Type="http://schemas.openxmlformats.org/officeDocument/2006/relationships/image" Target="../media/image37.png"/><Relationship Id="rId7" Type="http://schemas.openxmlformats.org/officeDocument/2006/relationships/image" Target="../media/image15.png"/><Relationship Id="rId8"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24.png"/><Relationship Id="rId11" Type="http://schemas.openxmlformats.org/officeDocument/2006/relationships/image" Target="../media/image33.png"/><Relationship Id="rId10" Type="http://schemas.openxmlformats.org/officeDocument/2006/relationships/image" Target="../media/image27.png"/><Relationship Id="rId9" Type="http://schemas.openxmlformats.org/officeDocument/2006/relationships/image" Target="../media/image30.png"/><Relationship Id="rId5" Type="http://schemas.openxmlformats.org/officeDocument/2006/relationships/image" Target="../media/image26.png"/><Relationship Id="rId6" Type="http://schemas.openxmlformats.org/officeDocument/2006/relationships/image" Target="../media/image25.png"/><Relationship Id="rId7" Type="http://schemas.openxmlformats.org/officeDocument/2006/relationships/image" Target="../media/image28.png"/><Relationship Id="rId8"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5.png"/><Relationship Id="rId5" Type="http://schemas.openxmlformats.org/officeDocument/2006/relationships/image" Target="../media/image31.png"/><Relationship Id="rId6" Type="http://schemas.openxmlformats.org/officeDocument/2006/relationships/image" Target="../media/image36.png"/><Relationship Id="rId7"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p:nvPr/>
        </p:nvSpPr>
        <p:spPr>
          <a:xfrm>
            <a:off x="754380" y="788670"/>
            <a:ext cx="7632954" cy="1200150"/>
          </a:xfrm>
          <a:prstGeom prst="roundRect">
            <a:avLst>
              <a:gd fmla="val 8000" name="adj"/>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2" name="Google Shape;132;p25"/>
          <p:cNvSpPr txBox="1"/>
          <p:nvPr/>
        </p:nvSpPr>
        <p:spPr>
          <a:xfrm>
            <a:off x="960120" y="891540"/>
            <a:ext cx="7221474" cy="994410"/>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Continuous Ecological Monitoring</a:t>
            </a:r>
            <a:endParaRPr sz="1100"/>
          </a:p>
          <a:p>
            <a:pPr indent="0" lvl="0" marL="0" marR="0" rtl="0" algn="ctr">
              <a:lnSpc>
                <a:spcPct val="108000"/>
              </a:lnSpc>
              <a:spcBef>
                <a:spcPts val="200"/>
              </a:spcBef>
              <a:spcAft>
                <a:spcPts val="0"/>
              </a:spcAft>
              <a:buNone/>
            </a:pPr>
            <a:r>
              <a:rPr b="0" i="0" lang="en" sz="1700" u="none" cap="none" strike="noStrike">
                <a:solidFill>
                  <a:srgbClr val="FFFFFF"/>
                </a:solidFill>
                <a:latin typeface="Calibri"/>
                <a:ea typeface="Calibri"/>
                <a:cs typeface="Calibri"/>
                <a:sym typeface="Calibri"/>
              </a:rPr>
              <a:t>Methodology: from field audio to bird-activity metrics</a:t>
            </a:r>
            <a:endParaRPr sz="1100"/>
          </a:p>
        </p:txBody>
      </p:sp>
      <p:sp>
        <p:nvSpPr>
          <p:cNvPr id="133" name="Google Shape;133;p25"/>
          <p:cNvSpPr txBox="1"/>
          <p:nvPr/>
        </p:nvSpPr>
        <p:spPr>
          <a:xfrm>
            <a:off x="493776" y="2228850"/>
            <a:ext cx="8154162" cy="274320"/>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0" i="0" lang="en" sz="1400" u="none" cap="none" strike="noStrike">
                <a:solidFill>
                  <a:srgbClr val="5F5C5C"/>
                </a:solidFill>
                <a:latin typeface="Calibri"/>
                <a:ea typeface="Calibri"/>
                <a:cs typeface="Calibri"/>
                <a:sym typeface="Calibri"/>
              </a:rPr>
              <a:t>How recordings become reliable detections, and detections become ecology</a:t>
            </a:r>
            <a:endParaRPr sz="1100"/>
          </a:p>
        </p:txBody>
      </p:sp>
      <p:pic>
        <p:nvPicPr>
          <p:cNvPr id="134" name="Google Shape;134;p25"/>
          <p:cNvPicPr preferRelativeResize="0"/>
          <p:nvPr/>
        </p:nvPicPr>
        <p:blipFill rotWithShape="1">
          <a:blip r:embed="rId3">
            <a:alphaModFix/>
          </a:blip>
          <a:srcRect b="25617" l="0" r="0" t="51831"/>
          <a:stretch/>
        </p:blipFill>
        <p:spPr>
          <a:xfrm>
            <a:off x="0" y="2665925"/>
            <a:ext cx="9144000" cy="1159950"/>
          </a:xfrm>
          <a:prstGeom prst="rect">
            <a:avLst/>
          </a:prstGeom>
          <a:noFill/>
          <a:ln>
            <a:noFill/>
          </a:ln>
        </p:spPr>
      </p:pic>
      <p:sp>
        <p:nvSpPr>
          <p:cNvPr id="135" name="Google Shape;135;p25"/>
          <p:cNvSpPr txBox="1"/>
          <p:nvPr/>
        </p:nvSpPr>
        <p:spPr>
          <a:xfrm>
            <a:off x="578600" y="1220775"/>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136" name="Google Shape;136;p25"/>
          <p:cNvPicPr preferRelativeResize="0"/>
          <p:nvPr/>
        </p:nvPicPr>
        <p:blipFill rotWithShape="1">
          <a:blip r:embed="rId3">
            <a:alphaModFix/>
          </a:blip>
          <a:srcRect b="0" l="0" r="0" t="77305"/>
          <a:stretch/>
        </p:blipFill>
        <p:spPr>
          <a:xfrm>
            <a:off x="960125" y="3778100"/>
            <a:ext cx="7054099" cy="994401"/>
          </a:xfrm>
          <a:prstGeom prst="rect">
            <a:avLst/>
          </a:prstGeom>
          <a:noFill/>
          <a:ln>
            <a:noFill/>
          </a:ln>
        </p:spPr>
      </p:pic>
      <p:sp>
        <p:nvSpPr>
          <p:cNvPr id="137" name="Google Shape;137;p25"/>
          <p:cNvSpPr txBox="1"/>
          <p:nvPr/>
        </p:nvSpPr>
        <p:spPr>
          <a:xfrm>
            <a:off x="703794" y="4017919"/>
            <a:ext cx="2314200" cy="676500"/>
          </a:xfrm>
          <a:prstGeom prst="rect">
            <a:avLst/>
          </a:prstGeom>
          <a:noFill/>
          <a:ln>
            <a:noFill/>
          </a:ln>
        </p:spPr>
        <p:txBody>
          <a:bodyPr anchorCtr="0" anchor="ctr" bIns="70525" lIns="70525" spcFirstLastPara="1" rIns="70525" wrap="square" tIns="70525">
            <a:noAutofit/>
          </a:bodyPr>
          <a:lstStyle/>
          <a:p>
            <a:pPr indent="0" lvl="0" marL="0" rtl="0" algn="l">
              <a:spcBef>
                <a:spcPts val="0"/>
              </a:spcBef>
              <a:spcAft>
                <a:spcPts val="0"/>
              </a:spcAft>
              <a:buNone/>
            </a:pPr>
            <a:r>
              <a:rPr lang="en" sz="1080"/>
              <a:t> </a:t>
            </a:r>
            <a:endParaRPr sz="10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4" name="Google Shape;144;p26"/>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5" name="Google Shape;145;p26"/>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Contents</a:t>
            </a:r>
            <a:endParaRPr sz="1100"/>
          </a:p>
        </p:txBody>
      </p:sp>
      <p:sp>
        <p:nvSpPr>
          <p:cNvPr id="146" name="Google Shape;146;p26"/>
          <p:cNvSpPr/>
          <p:nvPr/>
        </p:nvSpPr>
        <p:spPr>
          <a:xfrm>
            <a:off x="857250" y="836676"/>
            <a:ext cx="205740" cy="205740"/>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1</a:t>
            </a:r>
            <a:endParaRPr sz="1100"/>
          </a:p>
        </p:txBody>
      </p:sp>
      <p:sp>
        <p:nvSpPr>
          <p:cNvPr id="147" name="Google Shape;147;p26"/>
          <p:cNvSpPr txBox="1"/>
          <p:nvPr/>
        </p:nvSpPr>
        <p:spPr>
          <a:xfrm>
            <a:off x="1220724" y="822960"/>
            <a:ext cx="651510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3333B2"/>
                </a:solidFill>
                <a:latin typeface="Calibri"/>
                <a:ea typeface="Calibri"/>
                <a:cs typeface="Calibri"/>
                <a:sym typeface="Calibri"/>
              </a:rPr>
              <a:t>The pipeline at a glance</a:t>
            </a:r>
            <a:endParaRPr sz="1100"/>
          </a:p>
        </p:txBody>
      </p:sp>
      <p:sp>
        <p:nvSpPr>
          <p:cNvPr id="148" name="Google Shape;148;p26"/>
          <p:cNvSpPr/>
          <p:nvPr/>
        </p:nvSpPr>
        <p:spPr>
          <a:xfrm>
            <a:off x="857250" y="1159002"/>
            <a:ext cx="205740" cy="205740"/>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2</a:t>
            </a:r>
            <a:endParaRPr sz="1100"/>
          </a:p>
        </p:txBody>
      </p:sp>
      <p:sp>
        <p:nvSpPr>
          <p:cNvPr id="149" name="Google Shape;149;p26"/>
          <p:cNvSpPr txBox="1"/>
          <p:nvPr/>
        </p:nvSpPr>
        <p:spPr>
          <a:xfrm>
            <a:off x="1220724" y="1145286"/>
            <a:ext cx="651510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3333B2"/>
                </a:solidFill>
                <a:latin typeface="Calibri"/>
                <a:ea typeface="Calibri"/>
                <a:cs typeface="Calibri"/>
                <a:sym typeface="Calibri"/>
              </a:rPr>
              <a:t>Study design</a:t>
            </a:r>
            <a:endParaRPr sz="1100"/>
          </a:p>
        </p:txBody>
      </p:sp>
      <p:sp>
        <p:nvSpPr>
          <p:cNvPr id="150" name="Google Shape;150;p26"/>
          <p:cNvSpPr/>
          <p:nvPr/>
        </p:nvSpPr>
        <p:spPr>
          <a:xfrm>
            <a:off x="857250" y="1481328"/>
            <a:ext cx="205740" cy="205740"/>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3</a:t>
            </a:r>
            <a:endParaRPr sz="1100"/>
          </a:p>
        </p:txBody>
      </p:sp>
      <p:sp>
        <p:nvSpPr>
          <p:cNvPr id="151" name="Google Shape;151;p26"/>
          <p:cNvSpPr txBox="1"/>
          <p:nvPr/>
        </p:nvSpPr>
        <p:spPr>
          <a:xfrm>
            <a:off x="1220724" y="1467612"/>
            <a:ext cx="651510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3333B2"/>
                </a:solidFill>
                <a:latin typeface="Calibri"/>
                <a:ea typeface="Calibri"/>
                <a:cs typeface="Calibri"/>
                <a:sym typeface="Calibri"/>
              </a:rPr>
              <a:t>Pre-processing</a:t>
            </a:r>
            <a:endParaRPr sz="1100"/>
          </a:p>
        </p:txBody>
      </p:sp>
      <p:sp>
        <p:nvSpPr>
          <p:cNvPr id="152" name="Google Shape;152;p26"/>
          <p:cNvSpPr/>
          <p:nvPr/>
        </p:nvSpPr>
        <p:spPr>
          <a:xfrm>
            <a:off x="857250" y="1803654"/>
            <a:ext cx="205740" cy="205740"/>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4</a:t>
            </a:r>
            <a:endParaRPr sz="1100"/>
          </a:p>
        </p:txBody>
      </p:sp>
      <p:sp>
        <p:nvSpPr>
          <p:cNvPr id="153" name="Google Shape;153;p26"/>
          <p:cNvSpPr txBox="1"/>
          <p:nvPr/>
        </p:nvSpPr>
        <p:spPr>
          <a:xfrm>
            <a:off x="1220724" y="1789938"/>
            <a:ext cx="651510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3333B2"/>
                </a:solidFill>
                <a:latin typeface="Calibri"/>
                <a:ea typeface="Calibri"/>
                <a:cs typeface="Calibri"/>
                <a:sym typeface="Calibri"/>
              </a:rPr>
              <a:t>Detection: BirdNET</a:t>
            </a:r>
            <a:endParaRPr sz="1100"/>
          </a:p>
        </p:txBody>
      </p:sp>
      <p:sp>
        <p:nvSpPr>
          <p:cNvPr id="154" name="Google Shape;154;p26"/>
          <p:cNvSpPr/>
          <p:nvPr/>
        </p:nvSpPr>
        <p:spPr>
          <a:xfrm>
            <a:off x="857250" y="2125980"/>
            <a:ext cx="205740" cy="205740"/>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5</a:t>
            </a:r>
            <a:endParaRPr sz="1100"/>
          </a:p>
        </p:txBody>
      </p:sp>
      <p:sp>
        <p:nvSpPr>
          <p:cNvPr id="155" name="Google Shape;155;p26"/>
          <p:cNvSpPr txBox="1"/>
          <p:nvPr/>
        </p:nvSpPr>
        <p:spPr>
          <a:xfrm>
            <a:off x="1220724" y="2112264"/>
            <a:ext cx="651510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3333B2"/>
                </a:solidFill>
                <a:latin typeface="Calibri"/>
                <a:ea typeface="Calibri"/>
                <a:cs typeface="Calibri"/>
                <a:sym typeface="Calibri"/>
              </a:rPr>
              <a:t>Filtering</a:t>
            </a:r>
            <a:endParaRPr sz="1100"/>
          </a:p>
        </p:txBody>
      </p:sp>
      <p:sp>
        <p:nvSpPr>
          <p:cNvPr id="156" name="Google Shape;156;p26"/>
          <p:cNvSpPr/>
          <p:nvPr/>
        </p:nvSpPr>
        <p:spPr>
          <a:xfrm>
            <a:off x="857250" y="2448306"/>
            <a:ext cx="205740" cy="205740"/>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6</a:t>
            </a:r>
            <a:endParaRPr sz="1100"/>
          </a:p>
        </p:txBody>
      </p:sp>
      <p:sp>
        <p:nvSpPr>
          <p:cNvPr id="157" name="Google Shape;157;p26"/>
          <p:cNvSpPr txBox="1"/>
          <p:nvPr/>
        </p:nvSpPr>
        <p:spPr>
          <a:xfrm>
            <a:off x="1220724" y="2434590"/>
            <a:ext cx="651510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3333B2"/>
                </a:solidFill>
                <a:latin typeface="Calibri"/>
                <a:ea typeface="Calibri"/>
                <a:cs typeface="Calibri"/>
                <a:sym typeface="Calibri"/>
              </a:rPr>
              <a:t>Acoustic indices</a:t>
            </a:r>
            <a:endParaRPr sz="1100"/>
          </a:p>
        </p:txBody>
      </p:sp>
      <p:sp>
        <p:nvSpPr>
          <p:cNvPr id="158" name="Google Shape;158;p26"/>
          <p:cNvSpPr/>
          <p:nvPr/>
        </p:nvSpPr>
        <p:spPr>
          <a:xfrm>
            <a:off x="857250" y="2770632"/>
            <a:ext cx="205740" cy="205740"/>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7</a:t>
            </a:r>
            <a:endParaRPr sz="1100"/>
          </a:p>
        </p:txBody>
      </p:sp>
      <p:sp>
        <p:nvSpPr>
          <p:cNvPr id="159" name="Google Shape;159;p26"/>
          <p:cNvSpPr txBox="1"/>
          <p:nvPr/>
        </p:nvSpPr>
        <p:spPr>
          <a:xfrm>
            <a:off x="1220724" y="2756916"/>
            <a:ext cx="651510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3333B2"/>
                </a:solidFill>
                <a:latin typeface="Calibri"/>
                <a:ea typeface="Calibri"/>
                <a:cs typeface="Calibri"/>
                <a:sym typeface="Calibri"/>
              </a:rPr>
              <a:t>Activity Regularity and Habitat Affinity</a:t>
            </a:r>
            <a:endParaRPr sz="1100"/>
          </a:p>
        </p:txBody>
      </p:sp>
      <p:sp>
        <p:nvSpPr>
          <p:cNvPr id="160" name="Google Shape;160;p26"/>
          <p:cNvSpPr/>
          <p:nvPr/>
        </p:nvSpPr>
        <p:spPr>
          <a:xfrm>
            <a:off x="857250" y="3092958"/>
            <a:ext cx="205740" cy="205740"/>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8</a:t>
            </a:r>
            <a:endParaRPr sz="1100"/>
          </a:p>
        </p:txBody>
      </p:sp>
      <p:sp>
        <p:nvSpPr>
          <p:cNvPr id="161" name="Google Shape;161;p26"/>
          <p:cNvSpPr txBox="1"/>
          <p:nvPr/>
        </p:nvSpPr>
        <p:spPr>
          <a:xfrm>
            <a:off x="1220724" y="3079242"/>
            <a:ext cx="651510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3333B2"/>
                </a:solidFill>
                <a:latin typeface="Calibri"/>
                <a:ea typeface="Calibri"/>
                <a:cs typeface="Calibri"/>
                <a:sym typeface="Calibri"/>
              </a:rPr>
              <a:t>Migratory classification</a:t>
            </a:r>
            <a:endParaRPr sz="1100"/>
          </a:p>
        </p:txBody>
      </p:sp>
      <p:sp>
        <p:nvSpPr>
          <p:cNvPr id="162" name="Google Shape;162;p26"/>
          <p:cNvSpPr/>
          <p:nvPr/>
        </p:nvSpPr>
        <p:spPr>
          <a:xfrm>
            <a:off x="857250" y="3415284"/>
            <a:ext cx="205740" cy="205740"/>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9</a:t>
            </a:r>
            <a:endParaRPr sz="1100"/>
          </a:p>
        </p:txBody>
      </p:sp>
      <p:sp>
        <p:nvSpPr>
          <p:cNvPr id="163" name="Google Shape;163;p26"/>
          <p:cNvSpPr txBox="1"/>
          <p:nvPr/>
        </p:nvSpPr>
        <p:spPr>
          <a:xfrm>
            <a:off x="1220724" y="3401568"/>
            <a:ext cx="651510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3333B2"/>
                </a:solidFill>
                <a:latin typeface="Calibri"/>
                <a:ea typeface="Calibri"/>
                <a:cs typeface="Calibri"/>
                <a:sym typeface="Calibri"/>
              </a:rPr>
              <a:t>Solar alignment</a:t>
            </a:r>
            <a:endParaRPr sz="1100"/>
          </a:p>
        </p:txBody>
      </p:sp>
      <p:sp>
        <p:nvSpPr>
          <p:cNvPr id="164" name="Google Shape;164;p26"/>
          <p:cNvSpPr/>
          <p:nvPr/>
        </p:nvSpPr>
        <p:spPr>
          <a:xfrm>
            <a:off x="857250" y="3737610"/>
            <a:ext cx="205740" cy="205740"/>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900" u="none" cap="none" strike="noStrike">
                <a:solidFill>
                  <a:srgbClr val="FFFFFF"/>
                </a:solidFill>
                <a:latin typeface="Calibri"/>
                <a:ea typeface="Calibri"/>
                <a:cs typeface="Calibri"/>
                <a:sym typeface="Calibri"/>
              </a:rPr>
              <a:t>10</a:t>
            </a:r>
            <a:endParaRPr sz="1100"/>
          </a:p>
        </p:txBody>
      </p:sp>
      <p:sp>
        <p:nvSpPr>
          <p:cNvPr id="165" name="Google Shape;165;p26"/>
          <p:cNvSpPr txBox="1"/>
          <p:nvPr/>
        </p:nvSpPr>
        <p:spPr>
          <a:xfrm>
            <a:off x="1220724" y="3723894"/>
            <a:ext cx="651510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3333B2"/>
                </a:solidFill>
                <a:latin typeface="Calibri"/>
                <a:ea typeface="Calibri"/>
                <a:cs typeface="Calibri"/>
                <a:sym typeface="Calibri"/>
              </a:rPr>
              <a:t>Limitations</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2" name="Google Shape;172;p27"/>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3" name="Google Shape;173;p27"/>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The pipeline at a glance</a:t>
            </a:r>
            <a:endParaRPr sz="1100"/>
          </a:p>
        </p:txBody>
      </p:sp>
      <p:sp>
        <p:nvSpPr>
          <p:cNvPr id="174" name="Google Shape;174;p27"/>
          <p:cNvSpPr txBox="1"/>
          <p:nvPr/>
        </p:nvSpPr>
        <p:spPr>
          <a:xfrm>
            <a:off x="493776" y="685800"/>
            <a:ext cx="8154162"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272525"/>
                </a:solidFill>
                <a:latin typeface="Calibri"/>
                <a:ea typeface="Calibri"/>
                <a:cs typeface="Calibri"/>
                <a:sym typeface="Calibri"/>
              </a:rPr>
              <a:t>Five stages. This strip reappears on every slide with the current stage filled in.</a:t>
            </a:r>
            <a:endParaRPr sz="1100"/>
          </a:p>
        </p:txBody>
      </p:sp>
      <p:sp>
        <p:nvSpPr>
          <p:cNvPr id="175" name="Google Shape;175;p27"/>
          <p:cNvSpPr/>
          <p:nvPr/>
        </p:nvSpPr>
        <p:spPr>
          <a:xfrm>
            <a:off x="493776" y="1131570"/>
            <a:ext cx="1493672" cy="17487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6" name="Google Shape;176;p27"/>
          <p:cNvSpPr/>
          <p:nvPr/>
        </p:nvSpPr>
        <p:spPr>
          <a:xfrm>
            <a:off x="644652" y="1296162"/>
            <a:ext cx="288036" cy="288036"/>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200" u="none" cap="none" strike="noStrike">
                <a:solidFill>
                  <a:srgbClr val="FFFFFF"/>
                </a:solidFill>
                <a:latin typeface="Calibri"/>
                <a:ea typeface="Calibri"/>
                <a:cs typeface="Calibri"/>
                <a:sym typeface="Calibri"/>
              </a:rPr>
              <a:t>1</a:t>
            </a:r>
            <a:endParaRPr sz="1100"/>
          </a:p>
        </p:txBody>
      </p:sp>
      <p:sp>
        <p:nvSpPr>
          <p:cNvPr id="177" name="Google Shape;177;p27"/>
          <p:cNvSpPr txBox="1"/>
          <p:nvPr/>
        </p:nvSpPr>
        <p:spPr>
          <a:xfrm>
            <a:off x="644652" y="1693926"/>
            <a:ext cx="119192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Record</a:t>
            </a:r>
            <a:endParaRPr sz="1100"/>
          </a:p>
        </p:txBody>
      </p:sp>
      <p:sp>
        <p:nvSpPr>
          <p:cNvPr id="178" name="Google Shape;178;p27"/>
          <p:cNvSpPr txBox="1"/>
          <p:nvPr/>
        </p:nvSpPr>
        <p:spPr>
          <a:xfrm>
            <a:off x="644652" y="1995678"/>
            <a:ext cx="1191920" cy="78867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Song Meter 2 at four stratified sites, 2 min on / 4 min off.</a:t>
            </a:r>
            <a:endParaRPr sz="1100"/>
          </a:p>
        </p:txBody>
      </p:sp>
      <p:sp>
        <p:nvSpPr>
          <p:cNvPr id="179" name="Google Shape;179;p27"/>
          <p:cNvSpPr/>
          <p:nvPr/>
        </p:nvSpPr>
        <p:spPr>
          <a:xfrm>
            <a:off x="2028596" y="1937385"/>
            <a:ext cx="89154" cy="137160"/>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0" name="Google Shape;180;p27"/>
          <p:cNvSpPr/>
          <p:nvPr/>
        </p:nvSpPr>
        <p:spPr>
          <a:xfrm>
            <a:off x="2158898" y="1131570"/>
            <a:ext cx="1493672" cy="17487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1" name="Google Shape;181;p27"/>
          <p:cNvSpPr/>
          <p:nvPr/>
        </p:nvSpPr>
        <p:spPr>
          <a:xfrm>
            <a:off x="2309774" y="1296162"/>
            <a:ext cx="288036" cy="288036"/>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200" u="none" cap="none" strike="noStrike">
                <a:solidFill>
                  <a:srgbClr val="FFFFFF"/>
                </a:solidFill>
                <a:latin typeface="Calibri"/>
                <a:ea typeface="Calibri"/>
                <a:cs typeface="Calibri"/>
                <a:sym typeface="Calibri"/>
              </a:rPr>
              <a:t>2</a:t>
            </a:r>
            <a:endParaRPr sz="1100"/>
          </a:p>
        </p:txBody>
      </p:sp>
      <p:sp>
        <p:nvSpPr>
          <p:cNvPr id="182" name="Google Shape;182;p27"/>
          <p:cNvSpPr txBox="1"/>
          <p:nvPr/>
        </p:nvSpPr>
        <p:spPr>
          <a:xfrm>
            <a:off x="2309774" y="1693926"/>
            <a:ext cx="119192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Pre-process</a:t>
            </a:r>
            <a:endParaRPr sz="1100"/>
          </a:p>
        </p:txBody>
      </p:sp>
      <p:sp>
        <p:nvSpPr>
          <p:cNvPr id="183" name="Google Shape;183;p27"/>
          <p:cNvSpPr txBox="1"/>
          <p:nvPr/>
        </p:nvSpPr>
        <p:spPr>
          <a:xfrm>
            <a:off x="2309774" y="1995678"/>
            <a:ext cx="1191920" cy="78867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Segment, denoise, and flag rain before anything is detected.</a:t>
            </a:r>
            <a:endParaRPr sz="1100"/>
          </a:p>
        </p:txBody>
      </p:sp>
      <p:sp>
        <p:nvSpPr>
          <p:cNvPr id="184" name="Google Shape;184;p27"/>
          <p:cNvSpPr/>
          <p:nvPr/>
        </p:nvSpPr>
        <p:spPr>
          <a:xfrm>
            <a:off x="3693718" y="1937385"/>
            <a:ext cx="89154" cy="137160"/>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5" name="Google Shape;185;p27"/>
          <p:cNvSpPr/>
          <p:nvPr/>
        </p:nvSpPr>
        <p:spPr>
          <a:xfrm>
            <a:off x="3824021" y="1131570"/>
            <a:ext cx="1493672" cy="17487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6" name="Google Shape;186;p27"/>
          <p:cNvSpPr/>
          <p:nvPr/>
        </p:nvSpPr>
        <p:spPr>
          <a:xfrm>
            <a:off x="3974897" y="1296162"/>
            <a:ext cx="288036" cy="288036"/>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200" u="none" cap="none" strike="noStrike">
                <a:solidFill>
                  <a:srgbClr val="FFFFFF"/>
                </a:solidFill>
                <a:latin typeface="Calibri"/>
                <a:ea typeface="Calibri"/>
                <a:cs typeface="Calibri"/>
                <a:sym typeface="Calibri"/>
              </a:rPr>
              <a:t>3</a:t>
            </a:r>
            <a:endParaRPr sz="1100"/>
          </a:p>
        </p:txBody>
      </p:sp>
      <p:sp>
        <p:nvSpPr>
          <p:cNvPr id="187" name="Google Shape;187;p27"/>
          <p:cNvSpPr txBox="1"/>
          <p:nvPr/>
        </p:nvSpPr>
        <p:spPr>
          <a:xfrm>
            <a:off x="3974897" y="1693926"/>
            <a:ext cx="119192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Detect</a:t>
            </a:r>
            <a:endParaRPr sz="1100"/>
          </a:p>
        </p:txBody>
      </p:sp>
      <p:sp>
        <p:nvSpPr>
          <p:cNvPr id="188" name="Google Shape;188;p27"/>
          <p:cNvSpPr txBox="1"/>
          <p:nvPr/>
        </p:nvSpPr>
        <p:spPr>
          <a:xfrm>
            <a:off x="3974897" y="1995678"/>
            <a:ext cx="1191920" cy="78867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BirdNET names the species in every 3-second window.</a:t>
            </a:r>
            <a:endParaRPr sz="1100"/>
          </a:p>
        </p:txBody>
      </p:sp>
      <p:sp>
        <p:nvSpPr>
          <p:cNvPr id="189" name="Google Shape;189;p27"/>
          <p:cNvSpPr/>
          <p:nvPr/>
        </p:nvSpPr>
        <p:spPr>
          <a:xfrm>
            <a:off x="5358841" y="1937385"/>
            <a:ext cx="89154" cy="137160"/>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0" name="Google Shape;190;p27"/>
          <p:cNvSpPr/>
          <p:nvPr/>
        </p:nvSpPr>
        <p:spPr>
          <a:xfrm>
            <a:off x="5489143" y="1131570"/>
            <a:ext cx="1493672" cy="17487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1" name="Google Shape;191;p27"/>
          <p:cNvSpPr/>
          <p:nvPr/>
        </p:nvSpPr>
        <p:spPr>
          <a:xfrm>
            <a:off x="5640019" y="1296162"/>
            <a:ext cx="288036" cy="288036"/>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200" u="none" cap="none" strike="noStrike">
                <a:solidFill>
                  <a:srgbClr val="FFFFFF"/>
                </a:solidFill>
                <a:latin typeface="Calibri"/>
                <a:ea typeface="Calibri"/>
                <a:cs typeface="Calibri"/>
                <a:sym typeface="Calibri"/>
              </a:rPr>
              <a:t>4</a:t>
            </a:r>
            <a:endParaRPr sz="1100"/>
          </a:p>
        </p:txBody>
      </p:sp>
      <p:sp>
        <p:nvSpPr>
          <p:cNvPr id="192" name="Google Shape;192;p27"/>
          <p:cNvSpPr txBox="1"/>
          <p:nvPr/>
        </p:nvSpPr>
        <p:spPr>
          <a:xfrm>
            <a:off x="5640019" y="1693926"/>
            <a:ext cx="119192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Filter</a:t>
            </a:r>
            <a:endParaRPr sz="1100"/>
          </a:p>
        </p:txBody>
      </p:sp>
      <p:sp>
        <p:nvSpPr>
          <p:cNvPr id="193" name="Google Shape;193;p27"/>
          <p:cNvSpPr txBox="1"/>
          <p:nvPr/>
        </p:nvSpPr>
        <p:spPr>
          <a:xfrm>
            <a:off x="5640019" y="1995678"/>
            <a:ext cx="1191920" cy="78867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Five reliability steps turn raw detections into two clean datasets.</a:t>
            </a:r>
            <a:endParaRPr sz="1100"/>
          </a:p>
        </p:txBody>
      </p:sp>
      <p:sp>
        <p:nvSpPr>
          <p:cNvPr id="194" name="Google Shape;194;p27"/>
          <p:cNvSpPr/>
          <p:nvPr/>
        </p:nvSpPr>
        <p:spPr>
          <a:xfrm>
            <a:off x="7023963" y="1937385"/>
            <a:ext cx="89154" cy="137160"/>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5" name="Google Shape;195;p27"/>
          <p:cNvSpPr/>
          <p:nvPr/>
        </p:nvSpPr>
        <p:spPr>
          <a:xfrm>
            <a:off x="7154265" y="1131570"/>
            <a:ext cx="1493672" cy="17487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6" name="Google Shape;196;p27"/>
          <p:cNvSpPr/>
          <p:nvPr/>
        </p:nvSpPr>
        <p:spPr>
          <a:xfrm>
            <a:off x="7305141" y="1296162"/>
            <a:ext cx="288036" cy="288036"/>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200" u="none" cap="none" strike="noStrike">
                <a:solidFill>
                  <a:srgbClr val="FFFFFF"/>
                </a:solidFill>
                <a:latin typeface="Calibri"/>
                <a:ea typeface="Calibri"/>
                <a:cs typeface="Calibri"/>
                <a:sym typeface="Calibri"/>
              </a:rPr>
              <a:t>5</a:t>
            </a:r>
            <a:endParaRPr sz="1100"/>
          </a:p>
        </p:txBody>
      </p:sp>
      <p:sp>
        <p:nvSpPr>
          <p:cNvPr id="197" name="Google Shape;197;p27"/>
          <p:cNvSpPr txBox="1"/>
          <p:nvPr/>
        </p:nvSpPr>
        <p:spPr>
          <a:xfrm>
            <a:off x="7305141" y="1693926"/>
            <a:ext cx="119192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Analyse</a:t>
            </a:r>
            <a:endParaRPr sz="1100"/>
          </a:p>
        </p:txBody>
      </p:sp>
      <p:sp>
        <p:nvSpPr>
          <p:cNvPr id="198" name="Google Shape;198;p27"/>
          <p:cNvSpPr txBox="1"/>
          <p:nvPr/>
        </p:nvSpPr>
        <p:spPr>
          <a:xfrm>
            <a:off x="7305141" y="1995678"/>
            <a:ext cx="1191920" cy="78867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Acoustic indices, activity regularity, habitat affinity, migration, solar alignment.</a:t>
            </a:r>
            <a:endParaRPr sz="1100"/>
          </a:p>
        </p:txBody>
      </p:sp>
      <p:sp>
        <p:nvSpPr>
          <p:cNvPr id="199" name="Google Shape;199;p27"/>
          <p:cNvSpPr txBox="1"/>
          <p:nvPr/>
        </p:nvSpPr>
        <p:spPr>
          <a:xfrm>
            <a:off x="493776" y="3120390"/>
            <a:ext cx="8154162"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Notation used throughout</a:t>
            </a:r>
            <a:endParaRPr sz="1100"/>
          </a:p>
        </p:txBody>
      </p:sp>
      <p:sp>
        <p:nvSpPr>
          <p:cNvPr id="200" name="Google Shape;200;p27"/>
          <p:cNvSpPr txBox="1"/>
          <p:nvPr/>
        </p:nvSpPr>
        <p:spPr>
          <a:xfrm>
            <a:off x="493776" y="3429000"/>
            <a:ext cx="1901381" cy="4800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3333B2"/>
                </a:solidFill>
                <a:latin typeface="Calibri"/>
                <a:ea typeface="Calibri"/>
                <a:cs typeface="Calibri"/>
                <a:sym typeface="Calibri"/>
              </a:rPr>
              <a:t>s</a:t>
            </a:r>
            <a:endParaRPr sz="1100"/>
          </a:p>
          <a:p>
            <a:pPr indent="0" lvl="0" marL="0" marR="0" rtl="0" algn="l">
              <a:lnSpc>
                <a:spcPct val="108000"/>
              </a:lnSpc>
              <a:spcBef>
                <a:spcPts val="200"/>
              </a:spcBef>
              <a:spcAft>
                <a:spcPts val="0"/>
              </a:spcAft>
              <a:buNone/>
            </a:pPr>
            <a:r>
              <a:rPr b="0" i="0" lang="en" sz="1100" u="none" cap="none" strike="noStrike">
                <a:solidFill>
                  <a:srgbClr val="5F5C5C"/>
                </a:solidFill>
                <a:latin typeface="Calibri"/>
                <a:ea typeface="Calibri"/>
                <a:cs typeface="Calibri"/>
                <a:sym typeface="Calibri"/>
              </a:rPr>
              <a:t>a bird species</a:t>
            </a:r>
            <a:endParaRPr sz="1100"/>
          </a:p>
        </p:txBody>
      </p:sp>
      <p:sp>
        <p:nvSpPr>
          <p:cNvPr id="201" name="Google Shape;201;p27"/>
          <p:cNvSpPr txBox="1"/>
          <p:nvPr/>
        </p:nvSpPr>
        <p:spPr>
          <a:xfrm>
            <a:off x="2532317" y="3429000"/>
            <a:ext cx="1901381" cy="4800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3333B2"/>
                </a:solidFill>
                <a:latin typeface="Calibri"/>
                <a:ea typeface="Calibri"/>
                <a:cs typeface="Calibri"/>
                <a:sym typeface="Calibri"/>
              </a:rPr>
              <a:t>j</a:t>
            </a:r>
            <a:endParaRPr sz="1100"/>
          </a:p>
          <a:p>
            <a:pPr indent="0" lvl="0" marL="0" marR="0" rtl="0" algn="l">
              <a:lnSpc>
                <a:spcPct val="108000"/>
              </a:lnSpc>
              <a:spcBef>
                <a:spcPts val="200"/>
              </a:spcBef>
              <a:spcAft>
                <a:spcPts val="0"/>
              </a:spcAft>
              <a:buNone/>
            </a:pPr>
            <a:r>
              <a:rPr b="0" i="0" lang="en" sz="1100" u="none" cap="none" strike="noStrike">
                <a:solidFill>
                  <a:srgbClr val="5F5C5C"/>
                </a:solidFill>
                <a:latin typeface="Calibri"/>
                <a:ea typeface="Calibri"/>
                <a:cs typeface="Calibri"/>
                <a:sym typeface="Calibri"/>
              </a:rPr>
              <a:t>a recording location (site)</a:t>
            </a:r>
            <a:endParaRPr sz="1100"/>
          </a:p>
        </p:txBody>
      </p:sp>
      <p:sp>
        <p:nvSpPr>
          <p:cNvPr id="202" name="Google Shape;202;p27"/>
          <p:cNvSpPr txBox="1"/>
          <p:nvPr/>
        </p:nvSpPr>
        <p:spPr>
          <a:xfrm>
            <a:off x="4570857" y="3429000"/>
            <a:ext cx="1901381" cy="4800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3333B2"/>
                </a:solidFill>
                <a:latin typeface="Calibri"/>
                <a:ea typeface="Calibri"/>
                <a:cs typeface="Calibri"/>
                <a:sym typeface="Calibri"/>
              </a:rPr>
              <a:t>k ∈ D = {1, …, n}</a:t>
            </a:r>
            <a:endParaRPr sz="1100"/>
          </a:p>
          <a:p>
            <a:pPr indent="0" lvl="0" marL="0" marR="0" rtl="0" algn="l">
              <a:lnSpc>
                <a:spcPct val="108000"/>
              </a:lnSpc>
              <a:spcBef>
                <a:spcPts val="200"/>
              </a:spcBef>
              <a:spcAft>
                <a:spcPts val="0"/>
              </a:spcAft>
              <a:buNone/>
            </a:pPr>
            <a:r>
              <a:rPr b="0" i="0" lang="en" sz="1100" u="none" cap="none" strike="noStrike">
                <a:solidFill>
                  <a:srgbClr val="5F5C5C"/>
                </a:solidFill>
                <a:latin typeface="Calibri"/>
                <a:ea typeface="Calibri"/>
                <a:cs typeface="Calibri"/>
                <a:sym typeface="Calibri"/>
              </a:rPr>
              <a:t>a day in the study period</a:t>
            </a:r>
            <a:endParaRPr sz="1100"/>
          </a:p>
        </p:txBody>
      </p:sp>
      <p:sp>
        <p:nvSpPr>
          <p:cNvPr id="203" name="Google Shape;203;p27"/>
          <p:cNvSpPr txBox="1"/>
          <p:nvPr/>
        </p:nvSpPr>
        <p:spPr>
          <a:xfrm>
            <a:off x="6609398" y="3429000"/>
            <a:ext cx="1901381" cy="4800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3333B2"/>
                </a:solidFill>
                <a:latin typeface="Calibri"/>
                <a:ea typeface="Calibri"/>
                <a:cs typeface="Calibri"/>
                <a:sym typeface="Calibri"/>
              </a:rPr>
              <a:t>h ∈ H = {1, …, 24}</a:t>
            </a:r>
            <a:endParaRPr sz="1100"/>
          </a:p>
          <a:p>
            <a:pPr indent="0" lvl="0" marL="0" marR="0" rtl="0" algn="l">
              <a:lnSpc>
                <a:spcPct val="108000"/>
              </a:lnSpc>
              <a:spcBef>
                <a:spcPts val="200"/>
              </a:spcBef>
              <a:spcAft>
                <a:spcPts val="0"/>
              </a:spcAft>
              <a:buNone/>
            </a:pPr>
            <a:r>
              <a:rPr b="0" i="0" lang="en" sz="1100" u="none" cap="none" strike="noStrike">
                <a:solidFill>
                  <a:srgbClr val="5F5C5C"/>
                </a:solidFill>
                <a:latin typeface="Calibri"/>
                <a:ea typeface="Calibri"/>
                <a:cs typeface="Calibri"/>
                <a:sym typeface="Calibri"/>
              </a:rPr>
              <a:t>an hour of the day</a:t>
            </a:r>
            <a:endParaRPr sz="1100"/>
          </a:p>
        </p:txBody>
      </p:sp>
      <p:pic>
        <p:nvPicPr>
          <p:cNvPr descr="cnot.png" id="204" name="Google Shape;204;p27"/>
          <p:cNvPicPr preferRelativeResize="0"/>
          <p:nvPr/>
        </p:nvPicPr>
        <p:blipFill rotWithShape="1">
          <a:blip r:embed="rId3">
            <a:alphaModFix/>
          </a:blip>
          <a:srcRect b="0" l="0" r="0" t="0"/>
          <a:stretch/>
        </p:blipFill>
        <p:spPr>
          <a:xfrm>
            <a:off x="493776" y="3977640"/>
            <a:ext cx="761633" cy="288036"/>
          </a:xfrm>
          <a:prstGeom prst="rect">
            <a:avLst/>
          </a:prstGeom>
          <a:noFill/>
          <a:ln>
            <a:noFill/>
          </a:ln>
        </p:spPr>
      </p:pic>
      <p:sp>
        <p:nvSpPr>
          <p:cNvPr id="205" name="Google Shape;205;p27"/>
          <p:cNvSpPr txBox="1"/>
          <p:nvPr/>
        </p:nvSpPr>
        <p:spPr>
          <a:xfrm>
            <a:off x="1488186" y="4005072"/>
            <a:ext cx="7159752" cy="4114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the number of detections of species s at site j on day k during hour h. Every metric that follows is a sum or a correlation over this one quantity.</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2" name="Google Shape;212;p28"/>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3" name="Google Shape;213;p28"/>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Study design</a:t>
            </a:r>
            <a:endParaRPr sz="1100"/>
          </a:p>
        </p:txBody>
      </p:sp>
      <p:sp>
        <p:nvSpPr>
          <p:cNvPr id="214" name="Google Shape;214;p28"/>
          <p:cNvSpPr/>
          <p:nvPr/>
        </p:nvSpPr>
        <p:spPr>
          <a:xfrm>
            <a:off x="493776" y="651510"/>
            <a:ext cx="1532077" cy="288036"/>
          </a:xfrm>
          <a:prstGeom prst="roundRect">
            <a:avLst>
              <a:gd fmla="val 30000" name="adj"/>
            </a:avLst>
          </a:prstGeom>
          <a:solidFill>
            <a:srgbClr val="3333B2"/>
          </a:solidFill>
          <a:ln cap="flat" cmpd="sng" w="12700">
            <a:solidFill>
              <a:srgbClr val="3333B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5" name="Google Shape;215;p28"/>
          <p:cNvSpPr txBox="1"/>
          <p:nvPr/>
        </p:nvSpPr>
        <p:spPr>
          <a:xfrm>
            <a:off x="493776"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1" i="0" lang="en" sz="1000" u="none" cap="none" strike="noStrike">
                <a:solidFill>
                  <a:srgbClr val="FFFFFF"/>
                </a:solidFill>
                <a:latin typeface="Calibri"/>
                <a:ea typeface="Calibri"/>
                <a:cs typeface="Calibri"/>
                <a:sym typeface="Calibri"/>
              </a:rPr>
              <a:t>1  Record</a:t>
            </a:r>
            <a:endParaRPr sz="1100"/>
          </a:p>
        </p:txBody>
      </p:sp>
      <p:sp>
        <p:nvSpPr>
          <p:cNvPr id="216" name="Google Shape;216;p28"/>
          <p:cNvSpPr/>
          <p:nvPr/>
        </p:nvSpPr>
        <p:spPr>
          <a:xfrm>
            <a:off x="2056714"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7" name="Google Shape;217;p28"/>
          <p:cNvSpPr/>
          <p:nvPr/>
        </p:nvSpPr>
        <p:spPr>
          <a:xfrm>
            <a:off x="2149297"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8" name="Google Shape;218;p28"/>
          <p:cNvSpPr txBox="1"/>
          <p:nvPr/>
        </p:nvSpPr>
        <p:spPr>
          <a:xfrm>
            <a:off x="2149297"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2  Pre-process</a:t>
            </a:r>
            <a:endParaRPr sz="1100"/>
          </a:p>
        </p:txBody>
      </p:sp>
      <p:sp>
        <p:nvSpPr>
          <p:cNvPr id="219" name="Google Shape;219;p28"/>
          <p:cNvSpPr/>
          <p:nvPr/>
        </p:nvSpPr>
        <p:spPr>
          <a:xfrm>
            <a:off x="371223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0" name="Google Shape;220;p28"/>
          <p:cNvSpPr/>
          <p:nvPr/>
        </p:nvSpPr>
        <p:spPr>
          <a:xfrm>
            <a:off x="380481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1" name="Google Shape;221;p28"/>
          <p:cNvSpPr txBox="1"/>
          <p:nvPr/>
        </p:nvSpPr>
        <p:spPr>
          <a:xfrm>
            <a:off x="380481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3  Detect</a:t>
            </a:r>
            <a:endParaRPr sz="1100"/>
          </a:p>
        </p:txBody>
      </p:sp>
      <p:sp>
        <p:nvSpPr>
          <p:cNvPr id="222" name="Google Shape;222;p28"/>
          <p:cNvSpPr/>
          <p:nvPr/>
        </p:nvSpPr>
        <p:spPr>
          <a:xfrm>
            <a:off x="536775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3" name="Google Shape;223;p28"/>
          <p:cNvSpPr/>
          <p:nvPr/>
        </p:nvSpPr>
        <p:spPr>
          <a:xfrm>
            <a:off x="546033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4" name="Google Shape;224;p28"/>
          <p:cNvSpPr txBox="1"/>
          <p:nvPr/>
        </p:nvSpPr>
        <p:spPr>
          <a:xfrm>
            <a:off x="546033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4  Filter</a:t>
            </a:r>
            <a:endParaRPr sz="1100"/>
          </a:p>
        </p:txBody>
      </p:sp>
      <p:sp>
        <p:nvSpPr>
          <p:cNvPr id="225" name="Google Shape;225;p28"/>
          <p:cNvSpPr/>
          <p:nvPr/>
        </p:nvSpPr>
        <p:spPr>
          <a:xfrm>
            <a:off x="7023276"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6" name="Google Shape;226;p28"/>
          <p:cNvSpPr/>
          <p:nvPr/>
        </p:nvSpPr>
        <p:spPr>
          <a:xfrm>
            <a:off x="7115859"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7" name="Google Shape;227;p28"/>
          <p:cNvSpPr txBox="1"/>
          <p:nvPr/>
        </p:nvSpPr>
        <p:spPr>
          <a:xfrm>
            <a:off x="7115859"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5  Analyse</a:t>
            </a:r>
            <a:endParaRPr sz="1100"/>
          </a:p>
        </p:txBody>
      </p:sp>
      <p:pic>
        <p:nvPicPr>
          <p:cNvPr descr="master_map_crop.png" id="228" name="Google Shape;228;p28"/>
          <p:cNvPicPr preferRelativeResize="0"/>
          <p:nvPr/>
        </p:nvPicPr>
        <p:blipFill rotWithShape="1">
          <a:blip r:embed="rId3">
            <a:alphaModFix/>
          </a:blip>
          <a:srcRect b="0" l="0" r="0" t="0"/>
          <a:stretch/>
        </p:blipFill>
        <p:spPr>
          <a:xfrm>
            <a:off x="493776" y="1097280"/>
            <a:ext cx="3840480" cy="1795764"/>
          </a:xfrm>
          <a:prstGeom prst="rect">
            <a:avLst/>
          </a:prstGeom>
          <a:noFill/>
          <a:ln cap="flat" cmpd="sng" w="9525">
            <a:solidFill>
              <a:srgbClr val="C5C5E8"/>
            </a:solidFill>
            <a:prstDash val="solid"/>
            <a:round/>
            <a:headEnd len="sm" w="sm" type="none"/>
            <a:tailEnd len="sm" w="sm" type="none"/>
          </a:ln>
        </p:spPr>
      </p:pic>
      <p:sp>
        <p:nvSpPr>
          <p:cNvPr id="229" name="Google Shape;229;p28"/>
          <p:cNvSpPr txBox="1"/>
          <p:nvPr/>
        </p:nvSpPr>
        <p:spPr>
          <a:xfrm>
            <a:off x="493776" y="2948940"/>
            <a:ext cx="3840480"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Sanjay Van, Delhi NCR: four stratified monitoring sites</a:t>
            </a:r>
            <a:endParaRPr sz="1100"/>
          </a:p>
        </p:txBody>
      </p:sp>
      <p:sp>
        <p:nvSpPr>
          <p:cNvPr id="230" name="Google Shape;230;p28"/>
          <p:cNvSpPr/>
          <p:nvPr/>
        </p:nvSpPr>
        <p:spPr>
          <a:xfrm>
            <a:off x="4594860" y="1097280"/>
            <a:ext cx="4046220" cy="905256"/>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1" name="Google Shape;231;p28"/>
          <p:cNvSpPr txBox="1"/>
          <p:nvPr/>
        </p:nvSpPr>
        <p:spPr>
          <a:xfrm>
            <a:off x="4766310" y="1207008"/>
            <a:ext cx="370332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Four stratified sites</a:t>
            </a:r>
            <a:endParaRPr sz="1100"/>
          </a:p>
        </p:txBody>
      </p:sp>
      <p:sp>
        <p:nvSpPr>
          <p:cNvPr id="232" name="Google Shape;232;p28"/>
          <p:cNvSpPr txBox="1"/>
          <p:nvPr/>
        </p:nvSpPr>
        <p:spPr>
          <a:xfrm>
            <a:off x="4766310" y="1474470"/>
            <a:ext cx="3703320" cy="51435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Sites chosen to differ in vegetation composition, canopy structure and habitat, so comparisons across sites mean something.</a:t>
            </a:r>
            <a:endParaRPr sz="1100"/>
          </a:p>
        </p:txBody>
      </p:sp>
      <p:sp>
        <p:nvSpPr>
          <p:cNvPr id="233" name="Google Shape;233;p28"/>
          <p:cNvSpPr/>
          <p:nvPr/>
        </p:nvSpPr>
        <p:spPr>
          <a:xfrm>
            <a:off x="4594860" y="2125980"/>
            <a:ext cx="4046220" cy="905256"/>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4" name="Google Shape;234;p28"/>
          <p:cNvSpPr txBox="1"/>
          <p:nvPr/>
        </p:nvSpPr>
        <p:spPr>
          <a:xfrm>
            <a:off x="4766310" y="2235708"/>
            <a:ext cx="370332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Song Meter 2 recorders</a:t>
            </a:r>
            <a:endParaRPr sz="1100"/>
          </a:p>
        </p:txBody>
      </p:sp>
      <p:sp>
        <p:nvSpPr>
          <p:cNvPr id="235" name="Google Shape;235;p28"/>
          <p:cNvSpPr txBox="1"/>
          <p:nvPr/>
        </p:nvSpPr>
        <p:spPr>
          <a:xfrm>
            <a:off x="4766310" y="2503170"/>
            <a:ext cx="3703320" cy="51435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Placed to maximise ambient sound capture and minimise anthropogenic noise.</a:t>
            </a:r>
            <a:endParaRPr sz="1100"/>
          </a:p>
        </p:txBody>
      </p:sp>
      <p:sp>
        <p:nvSpPr>
          <p:cNvPr id="236" name="Google Shape;236;p28"/>
          <p:cNvSpPr/>
          <p:nvPr/>
        </p:nvSpPr>
        <p:spPr>
          <a:xfrm>
            <a:off x="4594860" y="3154680"/>
            <a:ext cx="4046220" cy="905256"/>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7" name="Google Shape;237;p28"/>
          <p:cNvSpPr txBox="1"/>
          <p:nvPr/>
        </p:nvSpPr>
        <p:spPr>
          <a:xfrm>
            <a:off x="4766310" y="3264408"/>
            <a:ext cx="370332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2:4 duty cycle</a:t>
            </a:r>
            <a:endParaRPr sz="1100"/>
          </a:p>
        </p:txBody>
      </p:sp>
      <p:sp>
        <p:nvSpPr>
          <p:cNvPr id="238" name="Google Shape;238;p28"/>
          <p:cNvSpPr txBox="1"/>
          <p:nvPr/>
        </p:nvSpPr>
        <p:spPr>
          <a:xfrm>
            <a:off x="4766310" y="3531870"/>
            <a:ext cx="3703320" cy="51435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2 minutes recording, 4 minutes sleep. Chosen from a pilot across sites: no measurable loss in species detection or index reliability, and longer field life.</a:t>
            </a:r>
            <a:endParaRPr sz="1100"/>
          </a:p>
        </p:txBody>
      </p:sp>
      <p:sp>
        <p:nvSpPr>
          <p:cNvPr id="239" name="Google Shape;239;p28"/>
          <p:cNvSpPr txBox="1"/>
          <p:nvPr/>
        </p:nvSpPr>
        <p:spPr>
          <a:xfrm>
            <a:off x="493776" y="4217670"/>
            <a:ext cx="8154162" cy="3429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Full equipment specifications, recording parameters and placement details are in the paper's appendix.</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6" name="Google Shape;246;p29"/>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7" name="Google Shape;247;p29"/>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Pre-processing</a:t>
            </a:r>
            <a:endParaRPr sz="1100"/>
          </a:p>
        </p:txBody>
      </p:sp>
      <p:sp>
        <p:nvSpPr>
          <p:cNvPr id="248" name="Google Shape;248;p29"/>
          <p:cNvSpPr/>
          <p:nvPr/>
        </p:nvSpPr>
        <p:spPr>
          <a:xfrm>
            <a:off x="493776"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9" name="Google Shape;249;p29"/>
          <p:cNvSpPr txBox="1"/>
          <p:nvPr/>
        </p:nvSpPr>
        <p:spPr>
          <a:xfrm>
            <a:off x="493776"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1  Record</a:t>
            </a:r>
            <a:endParaRPr sz="1100"/>
          </a:p>
        </p:txBody>
      </p:sp>
      <p:sp>
        <p:nvSpPr>
          <p:cNvPr id="250" name="Google Shape;250;p29"/>
          <p:cNvSpPr/>
          <p:nvPr/>
        </p:nvSpPr>
        <p:spPr>
          <a:xfrm>
            <a:off x="2056714"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1" name="Google Shape;251;p29"/>
          <p:cNvSpPr/>
          <p:nvPr/>
        </p:nvSpPr>
        <p:spPr>
          <a:xfrm>
            <a:off x="2149297" y="651510"/>
            <a:ext cx="1532077" cy="288036"/>
          </a:xfrm>
          <a:prstGeom prst="roundRect">
            <a:avLst>
              <a:gd fmla="val 30000" name="adj"/>
            </a:avLst>
          </a:prstGeom>
          <a:solidFill>
            <a:srgbClr val="3333B2"/>
          </a:solidFill>
          <a:ln cap="flat" cmpd="sng" w="12700">
            <a:solidFill>
              <a:srgbClr val="3333B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2" name="Google Shape;252;p29"/>
          <p:cNvSpPr txBox="1"/>
          <p:nvPr/>
        </p:nvSpPr>
        <p:spPr>
          <a:xfrm>
            <a:off x="2149297"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1" i="0" lang="en" sz="1000" u="none" cap="none" strike="noStrike">
                <a:solidFill>
                  <a:srgbClr val="FFFFFF"/>
                </a:solidFill>
                <a:latin typeface="Calibri"/>
                <a:ea typeface="Calibri"/>
                <a:cs typeface="Calibri"/>
                <a:sym typeface="Calibri"/>
              </a:rPr>
              <a:t>2  Pre-process</a:t>
            </a:r>
            <a:endParaRPr sz="1100"/>
          </a:p>
        </p:txBody>
      </p:sp>
      <p:sp>
        <p:nvSpPr>
          <p:cNvPr id="253" name="Google Shape;253;p29"/>
          <p:cNvSpPr/>
          <p:nvPr/>
        </p:nvSpPr>
        <p:spPr>
          <a:xfrm>
            <a:off x="371223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4" name="Google Shape;254;p29"/>
          <p:cNvSpPr/>
          <p:nvPr/>
        </p:nvSpPr>
        <p:spPr>
          <a:xfrm>
            <a:off x="380481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5" name="Google Shape;255;p29"/>
          <p:cNvSpPr txBox="1"/>
          <p:nvPr/>
        </p:nvSpPr>
        <p:spPr>
          <a:xfrm>
            <a:off x="380481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3  Detect</a:t>
            </a:r>
            <a:endParaRPr sz="1100"/>
          </a:p>
        </p:txBody>
      </p:sp>
      <p:sp>
        <p:nvSpPr>
          <p:cNvPr id="256" name="Google Shape;256;p29"/>
          <p:cNvSpPr/>
          <p:nvPr/>
        </p:nvSpPr>
        <p:spPr>
          <a:xfrm>
            <a:off x="536775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7" name="Google Shape;257;p29"/>
          <p:cNvSpPr/>
          <p:nvPr/>
        </p:nvSpPr>
        <p:spPr>
          <a:xfrm>
            <a:off x="546033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8" name="Google Shape;258;p29"/>
          <p:cNvSpPr txBox="1"/>
          <p:nvPr/>
        </p:nvSpPr>
        <p:spPr>
          <a:xfrm>
            <a:off x="546033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4  Filter</a:t>
            </a:r>
            <a:endParaRPr sz="1100"/>
          </a:p>
        </p:txBody>
      </p:sp>
      <p:sp>
        <p:nvSpPr>
          <p:cNvPr id="259" name="Google Shape;259;p29"/>
          <p:cNvSpPr/>
          <p:nvPr/>
        </p:nvSpPr>
        <p:spPr>
          <a:xfrm>
            <a:off x="7023276"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0" name="Google Shape;260;p29"/>
          <p:cNvSpPr/>
          <p:nvPr/>
        </p:nvSpPr>
        <p:spPr>
          <a:xfrm>
            <a:off x="7115859"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1" name="Google Shape;261;p29"/>
          <p:cNvSpPr txBox="1"/>
          <p:nvPr/>
        </p:nvSpPr>
        <p:spPr>
          <a:xfrm>
            <a:off x="7115859"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5  Analyse</a:t>
            </a:r>
            <a:endParaRPr sz="1100"/>
          </a:p>
        </p:txBody>
      </p:sp>
      <p:sp>
        <p:nvSpPr>
          <p:cNvPr id="262" name="Google Shape;262;p29"/>
          <p:cNvSpPr txBox="1"/>
          <p:nvPr/>
        </p:nvSpPr>
        <p:spPr>
          <a:xfrm>
            <a:off x="493776" y="1062990"/>
            <a:ext cx="8154162"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400" u="none" cap="none" strike="noStrike">
                <a:solidFill>
                  <a:srgbClr val="272525"/>
                </a:solidFill>
                <a:latin typeface="Calibri"/>
                <a:ea typeface="Calibri"/>
                <a:cs typeface="Calibri"/>
                <a:sym typeface="Calibri"/>
              </a:rPr>
              <a:t>Three steps clean the audio before any species is named.</a:t>
            </a:r>
            <a:endParaRPr sz="1100"/>
          </a:p>
        </p:txBody>
      </p:sp>
      <p:sp>
        <p:nvSpPr>
          <p:cNvPr id="263" name="Google Shape;263;p29"/>
          <p:cNvSpPr/>
          <p:nvPr/>
        </p:nvSpPr>
        <p:spPr>
          <a:xfrm>
            <a:off x="493776" y="1440180"/>
            <a:ext cx="2603754" cy="24345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4" name="Google Shape;264;p29"/>
          <p:cNvSpPr/>
          <p:nvPr/>
        </p:nvSpPr>
        <p:spPr>
          <a:xfrm>
            <a:off x="644652" y="1577340"/>
            <a:ext cx="260604" cy="260604"/>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1</a:t>
            </a:r>
            <a:endParaRPr sz="1100"/>
          </a:p>
        </p:txBody>
      </p:sp>
      <p:sp>
        <p:nvSpPr>
          <p:cNvPr id="265" name="Google Shape;265;p29"/>
          <p:cNvSpPr txBox="1"/>
          <p:nvPr/>
        </p:nvSpPr>
        <p:spPr>
          <a:xfrm>
            <a:off x="987552" y="1591056"/>
            <a:ext cx="1952244"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Segmentation</a:t>
            </a:r>
            <a:endParaRPr sz="1100"/>
          </a:p>
        </p:txBody>
      </p:sp>
      <p:sp>
        <p:nvSpPr>
          <p:cNvPr id="266" name="Google Shape;266;p29"/>
          <p:cNvSpPr txBox="1"/>
          <p:nvPr/>
        </p:nvSpPr>
        <p:spPr>
          <a:xfrm>
            <a:off x="644652" y="1954530"/>
            <a:ext cx="2302002" cy="11658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Each 2-minute file is one segment.</a:t>
            </a:r>
            <a:endParaRPr sz="1100"/>
          </a:p>
        </p:txBody>
      </p:sp>
      <p:pic>
        <p:nvPicPr>
          <p:cNvPr descr="seg.png" id="267" name="Google Shape;267;p29"/>
          <p:cNvPicPr preferRelativeResize="0"/>
          <p:nvPr/>
        </p:nvPicPr>
        <p:blipFill rotWithShape="1">
          <a:blip r:embed="rId3">
            <a:alphaModFix/>
          </a:blip>
          <a:srcRect b="0" l="0" r="0" t="0"/>
          <a:stretch/>
        </p:blipFill>
        <p:spPr>
          <a:xfrm>
            <a:off x="644652" y="3257550"/>
            <a:ext cx="2302002" cy="225196"/>
          </a:xfrm>
          <a:prstGeom prst="rect">
            <a:avLst/>
          </a:prstGeom>
          <a:noFill/>
          <a:ln>
            <a:noFill/>
          </a:ln>
        </p:spPr>
      </p:pic>
      <p:sp>
        <p:nvSpPr>
          <p:cNvPr id="268" name="Google Shape;268;p29"/>
          <p:cNvSpPr/>
          <p:nvPr/>
        </p:nvSpPr>
        <p:spPr>
          <a:xfrm>
            <a:off x="3268980" y="1440180"/>
            <a:ext cx="2603754" cy="24345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9" name="Google Shape;269;p29"/>
          <p:cNvSpPr/>
          <p:nvPr/>
        </p:nvSpPr>
        <p:spPr>
          <a:xfrm>
            <a:off x="3419856" y="1577340"/>
            <a:ext cx="260604" cy="260604"/>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2</a:t>
            </a:r>
            <a:endParaRPr sz="1100"/>
          </a:p>
        </p:txBody>
      </p:sp>
      <p:sp>
        <p:nvSpPr>
          <p:cNvPr id="270" name="Google Shape;270;p29"/>
          <p:cNvSpPr txBox="1"/>
          <p:nvPr/>
        </p:nvSpPr>
        <p:spPr>
          <a:xfrm>
            <a:off x="3762756" y="1591056"/>
            <a:ext cx="1952244"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Noise reduction</a:t>
            </a:r>
            <a:endParaRPr sz="1100"/>
          </a:p>
        </p:txBody>
      </p:sp>
      <p:sp>
        <p:nvSpPr>
          <p:cNvPr id="271" name="Google Shape;271;p29"/>
          <p:cNvSpPr txBox="1"/>
          <p:nvPr/>
        </p:nvSpPr>
        <p:spPr>
          <a:xfrm>
            <a:off x="3419856" y="1954530"/>
            <a:ext cx="2302002" cy="11658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SNR-scaled noise subtraction in the time domain plus spectral gating in the frequency domain, applied through a short-time Fourier transform.</a:t>
            </a:r>
            <a:endParaRPr sz="1100"/>
          </a:p>
        </p:txBody>
      </p:sp>
      <p:pic>
        <p:nvPicPr>
          <p:cNvPr descr="stft.png" id="272" name="Google Shape;272;p29"/>
          <p:cNvPicPr preferRelativeResize="0"/>
          <p:nvPr/>
        </p:nvPicPr>
        <p:blipFill rotWithShape="1">
          <a:blip r:embed="rId4">
            <a:alphaModFix/>
          </a:blip>
          <a:srcRect b="0" l="0" r="0" t="0"/>
          <a:stretch/>
        </p:blipFill>
        <p:spPr>
          <a:xfrm>
            <a:off x="3419856" y="3257550"/>
            <a:ext cx="2302002" cy="213304"/>
          </a:xfrm>
          <a:prstGeom prst="rect">
            <a:avLst/>
          </a:prstGeom>
          <a:noFill/>
          <a:ln>
            <a:noFill/>
          </a:ln>
        </p:spPr>
      </p:pic>
      <p:sp>
        <p:nvSpPr>
          <p:cNvPr id="273" name="Google Shape;273;p29"/>
          <p:cNvSpPr/>
          <p:nvPr/>
        </p:nvSpPr>
        <p:spPr>
          <a:xfrm>
            <a:off x="6044184" y="1440180"/>
            <a:ext cx="2603754" cy="24345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4" name="Google Shape;274;p29"/>
          <p:cNvSpPr/>
          <p:nvPr/>
        </p:nvSpPr>
        <p:spPr>
          <a:xfrm>
            <a:off x="6195060" y="1577340"/>
            <a:ext cx="260604" cy="260604"/>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3</a:t>
            </a:r>
            <a:endParaRPr sz="1100"/>
          </a:p>
        </p:txBody>
      </p:sp>
      <p:sp>
        <p:nvSpPr>
          <p:cNvPr id="275" name="Google Shape;275;p29"/>
          <p:cNvSpPr txBox="1"/>
          <p:nvPr/>
        </p:nvSpPr>
        <p:spPr>
          <a:xfrm>
            <a:off x="6537960" y="1591056"/>
            <a:ext cx="1952244"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272525"/>
                </a:solidFill>
                <a:latin typeface="Calibri"/>
                <a:ea typeface="Calibri"/>
                <a:cs typeface="Calibri"/>
                <a:sym typeface="Calibri"/>
              </a:rPr>
              <a:t>Rainfall removal</a:t>
            </a:r>
            <a:endParaRPr sz="1100"/>
          </a:p>
        </p:txBody>
      </p:sp>
      <p:sp>
        <p:nvSpPr>
          <p:cNvPr id="276" name="Google Shape;276;p29"/>
          <p:cNvSpPr txBox="1"/>
          <p:nvPr/>
        </p:nvSpPr>
        <p:spPr>
          <a:xfrm>
            <a:off x="6195060" y="1954530"/>
            <a:ext cx="2302002" cy="11658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Heavy rain is broadband noise that inflates the Acoustic Diversity Index. A Random Forest on 40 MFCCs per 10-second chunk labels rain as None / Low / Medium / High; High segments are dropped before indices are computed.</a:t>
            </a:r>
            <a:endParaRPr sz="1100"/>
          </a:p>
        </p:txBody>
      </p:sp>
      <p:sp>
        <p:nvSpPr>
          <p:cNvPr id="277" name="Google Shape;277;p29"/>
          <p:cNvSpPr txBox="1"/>
          <p:nvPr/>
        </p:nvSpPr>
        <p:spPr>
          <a:xfrm>
            <a:off x="6195060" y="3209540"/>
            <a:ext cx="2301900" cy="5631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94.17%</a:t>
            </a:r>
            <a:r>
              <a:rPr b="0" i="0" lang="en" sz="400" u="none" cap="none" strike="noStrike">
                <a:solidFill>
                  <a:srgbClr val="5F5C5C"/>
                </a:solidFill>
                <a:latin typeface="Calibri"/>
                <a:ea typeface="Calibri"/>
                <a:cs typeface="Calibri"/>
                <a:sym typeface="Calibri"/>
              </a:rPr>
              <a:t> </a:t>
            </a:r>
            <a:r>
              <a:rPr b="0" i="0" lang="en" sz="1000" u="none" cap="none" strike="noStrike">
                <a:solidFill>
                  <a:srgbClr val="5F5C5C"/>
                </a:solidFill>
                <a:latin typeface="Calibri"/>
                <a:ea typeface="Calibri"/>
                <a:cs typeface="Calibri"/>
                <a:sym typeface="Calibri"/>
              </a:rPr>
              <a:t> overall accuracy</a:t>
            </a:r>
            <a:endParaRPr sz="1100"/>
          </a:p>
          <a:p>
            <a:pPr indent="0" lvl="0" marL="0" marR="0" rtl="0" algn="l">
              <a:lnSpc>
                <a:spcPct val="108000"/>
              </a:lnSpc>
              <a:spcBef>
                <a:spcPts val="200"/>
              </a:spcBef>
              <a:spcAft>
                <a:spcPts val="0"/>
              </a:spcAft>
              <a:buNone/>
            </a:pPr>
            <a:r>
              <a:rPr b="0" i="0" lang="en" sz="900" u="none" cap="none" strike="noStrike">
                <a:solidFill>
                  <a:srgbClr val="5F5C5C"/>
                </a:solidFill>
                <a:latin typeface="Calibri"/>
                <a:ea typeface="Calibri"/>
                <a:cs typeface="Calibri"/>
                <a:sym typeface="Calibri"/>
              </a:rPr>
              <a:t>3,012 chunks from 251 files · 20% held-out test · Heavy class F1 = 0.96</a:t>
            </a:r>
            <a:endParaRPr sz="1100"/>
          </a:p>
        </p:txBody>
      </p:sp>
      <p:sp>
        <p:nvSpPr>
          <p:cNvPr id="278" name="Google Shape;278;p29"/>
          <p:cNvSpPr txBox="1"/>
          <p:nvPr/>
        </p:nvSpPr>
        <p:spPr>
          <a:xfrm>
            <a:off x="493776" y="4046220"/>
            <a:ext cx="8154162" cy="4114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Why it matters: without the rain filter, ADI produced false-positive biodiversity signals during the monsoon; with it, index values across the dataset were corrected.</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0"/>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5" name="Google Shape;285;p30"/>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6" name="Google Shape;286;p30"/>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Detection: BirdNET</a:t>
            </a:r>
            <a:endParaRPr sz="1100"/>
          </a:p>
        </p:txBody>
      </p:sp>
      <p:sp>
        <p:nvSpPr>
          <p:cNvPr id="287" name="Google Shape;287;p30"/>
          <p:cNvSpPr/>
          <p:nvPr/>
        </p:nvSpPr>
        <p:spPr>
          <a:xfrm>
            <a:off x="493776"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8" name="Google Shape;288;p30"/>
          <p:cNvSpPr txBox="1"/>
          <p:nvPr/>
        </p:nvSpPr>
        <p:spPr>
          <a:xfrm>
            <a:off x="493776"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1  Record</a:t>
            </a:r>
            <a:endParaRPr sz="1100"/>
          </a:p>
        </p:txBody>
      </p:sp>
      <p:sp>
        <p:nvSpPr>
          <p:cNvPr id="289" name="Google Shape;289;p30"/>
          <p:cNvSpPr/>
          <p:nvPr/>
        </p:nvSpPr>
        <p:spPr>
          <a:xfrm>
            <a:off x="2056714"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0" name="Google Shape;290;p30"/>
          <p:cNvSpPr/>
          <p:nvPr/>
        </p:nvSpPr>
        <p:spPr>
          <a:xfrm>
            <a:off x="2149297"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1" name="Google Shape;291;p30"/>
          <p:cNvSpPr txBox="1"/>
          <p:nvPr/>
        </p:nvSpPr>
        <p:spPr>
          <a:xfrm>
            <a:off x="2149297"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2  Pre-process</a:t>
            </a:r>
            <a:endParaRPr sz="1100"/>
          </a:p>
        </p:txBody>
      </p:sp>
      <p:sp>
        <p:nvSpPr>
          <p:cNvPr id="292" name="Google Shape;292;p30"/>
          <p:cNvSpPr/>
          <p:nvPr/>
        </p:nvSpPr>
        <p:spPr>
          <a:xfrm>
            <a:off x="371223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3" name="Google Shape;293;p30"/>
          <p:cNvSpPr/>
          <p:nvPr/>
        </p:nvSpPr>
        <p:spPr>
          <a:xfrm>
            <a:off x="3804818" y="651510"/>
            <a:ext cx="1532077" cy="288036"/>
          </a:xfrm>
          <a:prstGeom prst="roundRect">
            <a:avLst>
              <a:gd fmla="val 30000" name="adj"/>
            </a:avLst>
          </a:prstGeom>
          <a:solidFill>
            <a:srgbClr val="3333B2"/>
          </a:solidFill>
          <a:ln cap="flat" cmpd="sng" w="12700">
            <a:solidFill>
              <a:srgbClr val="3333B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4" name="Google Shape;294;p30"/>
          <p:cNvSpPr txBox="1"/>
          <p:nvPr/>
        </p:nvSpPr>
        <p:spPr>
          <a:xfrm>
            <a:off x="380481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1" i="0" lang="en" sz="1000" u="none" cap="none" strike="noStrike">
                <a:solidFill>
                  <a:srgbClr val="FFFFFF"/>
                </a:solidFill>
                <a:latin typeface="Calibri"/>
                <a:ea typeface="Calibri"/>
                <a:cs typeface="Calibri"/>
                <a:sym typeface="Calibri"/>
              </a:rPr>
              <a:t>3  Detect</a:t>
            </a:r>
            <a:endParaRPr sz="1100"/>
          </a:p>
        </p:txBody>
      </p:sp>
      <p:sp>
        <p:nvSpPr>
          <p:cNvPr id="295" name="Google Shape;295;p30"/>
          <p:cNvSpPr/>
          <p:nvPr/>
        </p:nvSpPr>
        <p:spPr>
          <a:xfrm>
            <a:off x="536775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6" name="Google Shape;296;p30"/>
          <p:cNvSpPr/>
          <p:nvPr/>
        </p:nvSpPr>
        <p:spPr>
          <a:xfrm>
            <a:off x="546033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7" name="Google Shape;297;p30"/>
          <p:cNvSpPr txBox="1"/>
          <p:nvPr/>
        </p:nvSpPr>
        <p:spPr>
          <a:xfrm>
            <a:off x="546033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4  Filter</a:t>
            </a:r>
            <a:endParaRPr sz="1100"/>
          </a:p>
        </p:txBody>
      </p:sp>
      <p:sp>
        <p:nvSpPr>
          <p:cNvPr id="298" name="Google Shape;298;p30"/>
          <p:cNvSpPr/>
          <p:nvPr/>
        </p:nvSpPr>
        <p:spPr>
          <a:xfrm>
            <a:off x="7023276"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9" name="Google Shape;299;p30"/>
          <p:cNvSpPr/>
          <p:nvPr/>
        </p:nvSpPr>
        <p:spPr>
          <a:xfrm>
            <a:off x="7115859"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0" name="Google Shape;300;p30"/>
          <p:cNvSpPr txBox="1"/>
          <p:nvPr/>
        </p:nvSpPr>
        <p:spPr>
          <a:xfrm>
            <a:off x="7115859"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5  Analyse</a:t>
            </a:r>
            <a:endParaRPr sz="1100"/>
          </a:p>
        </p:txBody>
      </p:sp>
      <p:sp>
        <p:nvSpPr>
          <p:cNvPr id="301" name="Google Shape;301;p30"/>
          <p:cNvSpPr txBox="1"/>
          <p:nvPr/>
        </p:nvSpPr>
        <p:spPr>
          <a:xfrm>
            <a:off x="493776" y="1062990"/>
            <a:ext cx="397764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What BirdNET does</a:t>
            </a:r>
            <a:endParaRPr sz="1100"/>
          </a:p>
        </p:txBody>
      </p:sp>
      <p:sp>
        <p:nvSpPr>
          <p:cNvPr id="302" name="Google Shape;302;p30"/>
          <p:cNvSpPr txBox="1"/>
          <p:nvPr/>
        </p:nvSpPr>
        <p:spPr>
          <a:xfrm>
            <a:off x="493776" y="1371600"/>
            <a:ext cx="3977640" cy="23317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272525"/>
                </a:solidFill>
                <a:latin typeface="Calibri"/>
                <a:ea typeface="Calibri"/>
                <a:cs typeface="Calibri"/>
                <a:sym typeface="Calibri"/>
              </a:rPr>
              <a:t>•  An open-source classifier from Cornell and Chemnitz, trained on more than 6,000 species.</a:t>
            </a:r>
            <a:endParaRPr sz="1100"/>
          </a:p>
          <a:p>
            <a:pPr indent="0" lvl="0" marL="0" marR="0" rtl="0" algn="l">
              <a:lnSpc>
                <a:spcPct val="108000"/>
              </a:lnSpc>
              <a:spcBef>
                <a:spcPts val="500"/>
              </a:spcBef>
              <a:spcAft>
                <a:spcPts val="0"/>
              </a:spcAft>
              <a:buNone/>
            </a:pPr>
            <a:r>
              <a:rPr b="0" i="0" lang="en" sz="1100" u="none" cap="none" strike="noStrike">
                <a:solidFill>
                  <a:srgbClr val="272525"/>
                </a:solidFill>
                <a:latin typeface="Calibri"/>
                <a:ea typeface="Calibri"/>
                <a:cs typeface="Calibri"/>
                <a:sym typeface="Calibri"/>
              </a:rPr>
              <a:t>•  Slides a 3-second window over each segment and returns, per window, a species and a confidence in [0, 1].</a:t>
            </a:r>
            <a:endParaRPr sz="1100"/>
          </a:p>
          <a:p>
            <a:pPr indent="0" lvl="0" marL="0" marR="0" rtl="0" algn="l">
              <a:lnSpc>
                <a:spcPct val="108000"/>
              </a:lnSpc>
              <a:spcBef>
                <a:spcPts val="500"/>
              </a:spcBef>
              <a:spcAft>
                <a:spcPts val="0"/>
              </a:spcAft>
              <a:buNone/>
            </a:pPr>
            <a:r>
              <a:rPr b="0" i="0" lang="en" sz="1100" u="none" cap="none" strike="noStrike">
                <a:solidFill>
                  <a:srgbClr val="272525"/>
                </a:solidFill>
                <a:latin typeface="Calibri"/>
                <a:ea typeface="Calibri"/>
                <a:cs typeface="Calibri"/>
                <a:sym typeface="Calibri"/>
              </a:rPr>
              <a:t>•  Published weights are used unchanged; nothing is trained here.</a:t>
            </a:r>
            <a:endParaRPr sz="1100"/>
          </a:p>
          <a:p>
            <a:pPr indent="0" lvl="0" marL="0" marR="0" rtl="0" algn="l">
              <a:lnSpc>
                <a:spcPct val="108000"/>
              </a:lnSpc>
              <a:spcBef>
                <a:spcPts val="500"/>
              </a:spcBef>
              <a:spcAft>
                <a:spcPts val="0"/>
              </a:spcAft>
              <a:buNone/>
            </a:pPr>
            <a:r>
              <a:rPr b="0" i="0" lang="en" sz="1100" u="none" cap="none" strike="noStrike">
                <a:solidFill>
                  <a:srgbClr val="272525"/>
                </a:solidFill>
                <a:latin typeface="Calibri"/>
                <a:ea typeface="Calibri"/>
                <a:cs typeface="Calibri"/>
                <a:sym typeface="Calibri"/>
              </a:rPr>
              <a:t>•  Every detection becomes one row in the project's aggregate.csv: species, confidence, file, site, date, hour.</a:t>
            </a:r>
            <a:endParaRPr sz="1100"/>
          </a:p>
        </p:txBody>
      </p:sp>
      <p:sp>
        <p:nvSpPr>
          <p:cNvPr id="303" name="Google Shape;303;p30"/>
          <p:cNvSpPr txBox="1"/>
          <p:nvPr/>
        </p:nvSpPr>
        <p:spPr>
          <a:xfrm>
            <a:off x="4732020" y="1062990"/>
            <a:ext cx="390906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What a detection is</a:t>
            </a:r>
            <a:endParaRPr sz="1100"/>
          </a:p>
        </p:txBody>
      </p:sp>
      <p:sp>
        <p:nvSpPr>
          <p:cNvPr id="304" name="Google Shape;304;p30"/>
          <p:cNvSpPr/>
          <p:nvPr/>
        </p:nvSpPr>
        <p:spPr>
          <a:xfrm>
            <a:off x="4732020" y="1371600"/>
            <a:ext cx="3909060" cy="130302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det1.png" id="305" name="Google Shape;305;p30"/>
          <p:cNvPicPr preferRelativeResize="0"/>
          <p:nvPr/>
        </p:nvPicPr>
        <p:blipFill rotWithShape="1">
          <a:blip r:embed="rId3">
            <a:alphaModFix/>
          </a:blip>
          <a:srcRect b="0" l="0" r="0" t="0"/>
          <a:stretch/>
        </p:blipFill>
        <p:spPr>
          <a:xfrm>
            <a:off x="4903470" y="1508760"/>
            <a:ext cx="3566160" cy="275158"/>
          </a:xfrm>
          <a:prstGeom prst="rect">
            <a:avLst/>
          </a:prstGeom>
          <a:noFill/>
          <a:ln>
            <a:noFill/>
          </a:ln>
        </p:spPr>
      </p:pic>
      <p:pic>
        <p:nvPicPr>
          <p:cNvPr descr="det2.png" id="306" name="Google Shape;306;p30"/>
          <p:cNvPicPr preferRelativeResize="0"/>
          <p:nvPr/>
        </p:nvPicPr>
        <p:blipFill rotWithShape="1">
          <a:blip r:embed="rId4">
            <a:alphaModFix/>
          </a:blip>
          <a:srcRect b="0" l="0" r="0" t="0"/>
          <a:stretch/>
        </p:blipFill>
        <p:spPr>
          <a:xfrm>
            <a:off x="4903470" y="1885950"/>
            <a:ext cx="3566160" cy="246888"/>
          </a:xfrm>
          <a:prstGeom prst="rect">
            <a:avLst/>
          </a:prstGeom>
          <a:noFill/>
          <a:ln>
            <a:noFill/>
          </a:ln>
        </p:spPr>
      </p:pic>
      <p:sp>
        <p:nvSpPr>
          <p:cNvPr id="307" name="Google Shape;307;p30"/>
          <p:cNvSpPr txBox="1"/>
          <p:nvPr/>
        </p:nvSpPr>
        <p:spPr>
          <a:xfrm>
            <a:off x="4903470" y="2297430"/>
            <a:ext cx="3566160" cy="4114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000" u="none" cap="none" strike="noStrike">
                <a:solidFill>
                  <a:srgbClr val="3333B2"/>
                </a:solidFill>
                <a:latin typeface="Calibri"/>
                <a:ea typeface="Calibri"/>
                <a:cs typeface="Calibri"/>
                <a:sym typeface="Calibri"/>
              </a:rPr>
              <a:t>reads as  </a:t>
            </a:r>
            <a:r>
              <a:rPr b="0" i="0" lang="en" sz="1000" u="none" cap="none" strike="noStrike">
                <a:solidFill>
                  <a:srgbClr val="5F5C5C"/>
                </a:solidFill>
                <a:latin typeface="Calibri"/>
                <a:ea typeface="Calibri"/>
                <a:cs typeface="Calibri"/>
                <a:sym typeface="Calibri"/>
              </a:rPr>
              <a:t>how many times species s was heard at site j during hour h of day k. Everything downstream is built from this count.</a:t>
            </a:r>
            <a:endParaRPr sz="1100"/>
          </a:p>
        </p:txBody>
      </p:sp>
      <p:sp>
        <p:nvSpPr>
          <p:cNvPr id="308" name="Google Shape;308;p30"/>
          <p:cNvSpPr txBox="1"/>
          <p:nvPr/>
        </p:nvSpPr>
        <p:spPr>
          <a:xfrm>
            <a:off x="4732020" y="2880360"/>
            <a:ext cx="390906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Why confidence is a generation parameter</a:t>
            </a:r>
            <a:endParaRPr sz="1100"/>
          </a:p>
        </p:txBody>
      </p:sp>
      <p:sp>
        <p:nvSpPr>
          <p:cNvPr id="309" name="Google Shape;309;p30"/>
          <p:cNvSpPr txBox="1"/>
          <p:nvPr/>
        </p:nvSpPr>
        <p:spPr>
          <a:xfrm>
            <a:off x="4732020" y="3188970"/>
            <a:ext cx="3909060" cy="8229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The confidence floor is set when BirdNET runs. A window below it is never written, so lowering the threshold later cannot recover it. Each site's effective floor is the maximum across its files, and it is recorded in the job log.</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1"/>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6" name="Google Shape;316;p31"/>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7" name="Google Shape;317;p31"/>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Filtering: five steps to a reliable table</a:t>
            </a:r>
            <a:endParaRPr sz="1100"/>
          </a:p>
        </p:txBody>
      </p:sp>
      <p:sp>
        <p:nvSpPr>
          <p:cNvPr id="318" name="Google Shape;318;p31"/>
          <p:cNvSpPr/>
          <p:nvPr/>
        </p:nvSpPr>
        <p:spPr>
          <a:xfrm>
            <a:off x="493776"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9" name="Google Shape;319;p31"/>
          <p:cNvSpPr txBox="1"/>
          <p:nvPr/>
        </p:nvSpPr>
        <p:spPr>
          <a:xfrm>
            <a:off x="493776"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1  Record</a:t>
            </a:r>
            <a:endParaRPr sz="1100"/>
          </a:p>
        </p:txBody>
      </p:sp>
      <p:sp>
        <p:nvSpPr>
          <p:cNvPr id="320" name="Google Shape;320;p31"/>
          <p:cNvSpPr/>
          <p:nvPr/>
        </p:nvSpPr>
        <p:spPr>
          <a:xfrm>
            <a:off x="2056714"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1" name="Google Shape;321;p31"/>
          <p:cNvSpPr/>
          <p:nvPr/>
        </p:nvSpPr>
        <p:spPr>
          <a:xfrm>
            <a:off x="2149297"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2" name="Google Shape;322;p31"/>
          <p:cNvSpPr txBox="1"/>
          <p:nvPr/>
        </p:nvSpPr>
        <p:spPr>
          <a:xfrm>
            <a:off x="2149297"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2  Pre-process</a:t>
            </a:r>
            <a:endParaRPr sz="1100"/>
          </a:p>
        </p:txBody>
      </p:sp>
      <p:sp>
        <p:nvSpPr>
          <p:cNvPr id="323" name="Google Shape;323;p31"/>
          <p:cNvSpPr/>
          <p:nvPr/>
        </p:nvSpPr>
        <p:spPr>
          <a:xfrm>
            <a:off x="371223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4" name="Google Shape;324;p31"/>
          <p:cNvSpPr/>
          <p:nvPr/>
        </p:nvSpPr>
        <p:spPr>
          <a:xfrm>
            <a:off x="380481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5" name="Google Shape;325;p31"/>
          <p:cNvSpPr txBox="1"/>
          <p:nvPr/>
        </p:nvSpPr>
        <p:spPr>
          <a:xfrm>
            <a:off x="380481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3  Detect</a:t>
            </a:r>
            <a:endParaRPr sz="1100"/>
          </a:p>
        </p:txBody>
      </p:sp>
      <p:sp>
        <p:nvSpPr>
          <p:cNvPr id="326" name="Google Shape;326;p31"/>
          <p:cNvSpPr/>
          <p:nvPr/>
        </p:nvSpPr>
        <p:spPr>
          <a:xfrm>
            <a:off x="536775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7" name="Google Shape;327;p31"/>
          <p:cNvSpPr/>
          <p:nvPr/>
        </p:nvSpPr>
        <p:spPr>
          <a:xfrm>
            <a:off x="5460338" y="651510"/>
            <a:ext cx="1532077" cy="288036"/>
          </a:xfrm>
          <a:prstGeom prst="roundRect">
            <a:avLst>
              <a:gd fmla="val 30000" name="adj"/>
            </a:avLst>
          </a:prstGeom>
          <a:solidFill>
            <a:srgbClr val="3333B2"/>
          </a:solidFill>
          <a:ln cap="flat" cmpd="sng" w="12700">
            <a:solidFill>
              <a:srgbClr val="3333B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8" name="Google Shape;328;p31"/>
          <p:cNvSpPr txBox="1"/>
          <p:nvPr/>
        </p:nvSpPr>
        <p:spPr>
          <a:xfrm>
            <a:off x="546033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1" i="0" lang="en" sz="1000" u="none" cap="none" strike="noStrike">
                <a:solidFill>
                  <a:srgbClr val="FFFFFF"/>
                </a:solidFill>
                <a:latin typeface="Calibri"/>
                <a:ea typeface="Calibri"/>
                <a:cs typeface="Calibri"/>
                <a:sym typeface="Calibri"/>
              </a:rPr>
              <a:t>4  Filter</a:t>
            </a:r>
            <a:endParaRPr sz="1100"/>
          </a:p>
        </p:txBody>
      </p:sp>
      <p:sp>
        <p:nvSpPr>
          <p:cNvPr id="329" name="Google Shape;329;p31"/>
          <p:cNvSpPr/>
          <p:nvPr/>
        </p:nvSpPr>
        <p:spPr>
          <a:xfrm>
            <a:off x="7023276"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0" name="Google Shape;330;p31"/>
          <p:cNvSpPr/>
          <p:nvPr/>
        </p:nvSpPr>
        <p:spPr>
          <a:xfrm>
            <a:off x="7115859"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1" name="Google Shape;331;p31"/>
          <p:cNvSpPr txBox="1"/>
          <p:nvPr/>
        </p:nvSpPr>
        <p:spPr>
          <a:xfrm>
            <a:off x="7115859"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5  Analyse</a:t>
            </a:r>
            <a:endParaRPr sz="1100"/>
          </a:p>
        </p:txBody>
      </p:sp>
      <p:sp>
        <p:nvSpPr>
          <p:cNvPr id="332" name="Google Shape;332;p31"/>
          <p:cNvSpPr/>
          <p:nvPr/>
        </p:nvSpPr>
        <p:spPr>
          <a:xfrm>
            <a:off x="493776" y="1104138"/>
            <a:ext cx="260604" cy="260604"/>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1</a:t>
            </a:r>
            <a:endParaRPr sz="1100"/>
          </a:p>
        </p:txBody>
      </p:sp>
      <p:sp>
        <p:nvSpPr>
          <p:cNvPr id="333" name="Google Shape;333;p31"/>
          <p:cNvSpPr txBox="1"/>
          <p:nvPr/>
        </p:nvSpPr>
        <p:spPr>
          <a:xfrm>
            <a:off x="870966" y="1062990"/>
            <a:ext cx="226314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Taxonomic verification</a:t>
            </a:r>
            <a:endParaRPr sz="1100"/>
          </a:p>
        </p:txBody>
      </p:sp>
      <p:sp>
        <p:nvSpPr>
          <p:cNvPr id="334" name="Google Shape;334;p31"/>
          <p:cNvSpPr txBox="1"/>
          <p:nvPr/>
        </p:nvSpPr>
        <p:spPr>
          <a:xfrm>
            <a:off x="870966" y="1337310"/>
            <a:ext cx="2263140" cy="30861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keep only species on the regional eBird / Merlin checklist</a:t>
            </a:r>
            <a:endParaRPr sz="1100"/>
          </a:p>
        </p:txBody>
      </p:sp>
      <p:pic>
        <p:nvPicPr>
          <p:cNvPr descr="f1.png" id="335" name="Google Shape;335;p31"/>
          <p:cNvPicPr preferRelativeResize="0"/>
          <p:nvPr/>
        </p:nvPicPr>
        <p:blipFill rotWithShape="1">
          <a:blip r:embed="rId3">
            <a:alphaModFix/>
          </a:blip>
          <a:srcRect b="0" l="0" r="0" t="0"/>
          <a:stretch/>
        </p:blipFill>
        <p:spPr>
          <a:xfrm>
            <a:off x="3360420" y="1090422"/>
            <a:ext cx="2948940" cy="255522"/>
          </a:xfrm>
          <a:prstGeom prst="rect">
            <a:avLst/>
          </a:prstGeom>
          <a:noFill/>
          <a:ln>
            <a:noFill/>
          </a:ln>
        </p:spPr>
      </p:pic>
      <p:sp>
        <p:nvSpPr>
          <p:cNvPr id="336" name="Google Shape;336;p31"/>
          <p:cNvSpPr/>
          <p:nvPr/>
        </p:nvSpPr>
        <p:spPr>
          <a:xfrm>
            <a:off x="493776" y="1707642"/>
            <a:ext cx="260604" cy="260604"/>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2</a:t>
            </a:r>
            <a:endParaRPr sz="1100"/>
          </a:p>
        </p:txBody>
      </p:sp>
      <p:sp>
        <p:nvSpPr>
          <p:cNvPr id="337" name="Google Shape;337;p31"/>
          <p:cNvSpPr txBox="1"/>
          <p:nvPr/>
        </p:nvSpPr>
        <p:spPr>
          <a:xfrm>
            <a:off x="870966" y="1666494"/>
            <a:ext cx="226314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Confidence threshold</a:t>
            </a:r>
            <a:endParaRPr sz="1100"/>
          </a:p>
        </p:txBody>
      </p:sp>
      <p:sp>
        <p:nvSpPr>
          <p:cNvPr id="338" name="Google Shape;338;p31"/>
          <p:cNvSpPr txBox="1"/>
          <p:nvPr/>
        </p:nvSpPr>
        <p:spPr>
          <a:xfrm>
            <a:off x="870966" y="1940814"/>
            <a:ext cx="2263140" cy="30861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drop low-confidence windows</a:t>
            </a:r>
            <a:endParaRPr sz="1100"/>
          </a:p>
        </p:txBody>
      </p:sp>
      <p:pic>
        <p:nvPicPr>
          <p:cNvPr descr="f2.png" id="339" name="Google Shape;339;p31"/>
          <p:cNvPicPr preferRelativeResize="0"/>
          <p:nvPr/>
        </p:nvPicPr>
        <p:blipFill rotWithShape="1">
          <a:blip r:embed="rId4">
            <a:alphaModFix/>
          </a:blip>
          <a:srcRect b="0" l="0" r="0" t="0"/>
          <a:stretch/>
        </p:blipFill>
        <p:spPr>
          <a:xfrm>
            <a:off x="3360420" y="1693926"/>
            <a:ext cx="2948940" cy="233438"/>
          </a:xfrm>
          <a:prstGeom prst="rect">
            <a:avLst/>
          </a:prstGeom>
          <a:noFill/>
          <a:ln>
            <a:noFill/>
          </a:ln>
        </p:spPr>
      </p:pic>
      <p:sp>
        <p:nvSpPr>
          <p:cNvPr id="340" name="Google Shape;340;p31"/>
          <p:cNvSpPr/>
          <p:nvPr/>
        </p:nvSpPr>
        <p:spPr>
          <a:xfrm>
            <a:off x="493776" y="2311146"/>
            <a:ext cx="260604" cy="260604"/>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3</a:t>
            </a:r>
            <a:endParaRPr sz="1100"/>
          </a:p>
        </p:txBody>
      </p:sp>
      <p:sp>
        <p:nvSpPr>
          <p:cNvPr id="341" name="Google Shape;341;p31"/>
          <p:cNvSpPr txBox="1"/>
          <p:nvPr/>
        </p:nvSpPr>
        <p:spPr>
          <a:xfrm>
            <a:off x="870966" y="2269998"/>
            <a:ext cx="226314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Minimum activity</a:t>
            </a:r>
            <a:endParaRPr sz="1100"/>
          </a:p>
        </p:txBody>
      </p:sp>
      <p:sp>
        <p:nvSpPr>
          <p:cNvPr id="342" name="Google Shape;342;p31"/>
          <p:cNvSpPr txBox="1"/>
          <p:nvPr/>
        </p:nvSpPr>
        <p:spPr>
          <a:xfrm>
            <a:off x="870966" y="2544318"/>
            <a:ext cx="2263140" cy="30861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a species needs enough detections overall</a:t>
            </a:r>
            <a:endParaRPr sz="1100"/>
          </a:p>
        </p:txBody>
      </p:sp>
      <p:pic>
        <p:nvPicPr>
          <p:cNvPr descr="f3.png" id="343" name="Google Shape;343;p31"/>
          <p:cNvPicPr preferRelativeResize="0"/>
          <p:nvPr/>
        </p:nvPicPr>
        <p:blipFill rotWithShape="1">
          <a:blip r:embed="rId5">
            <a:alphaModFix/>
          </a:blip>
          <a:srcRect b="0" l="0" r="0" t="0"/>
          <a:stretch/>
        </p:blipFill>
        <p:spPr>
          <a:xfrm>
            <a:off x="3360420" y="2297430"/>
            <a:ext cx="2131858" cy="493776"/>
          </a:xfrm>
          <a:prstGeom prst="rect">
            <a:avLst/>
          </a:prstGeom>
          <a:noFill/>
          <a:ln>
            <a:noFill/>
          </a:ln>
        </p:spPr>
      </p:pic>
      <p:sp>
        <p:nvSpPr>
          <p:cNvPr id="344" name="Google Shape;344;p31"/>
          <p:cNvSpPr/>
          <p:nvPr/>
        </p:nvSpPr>
        <p:spPr>
          <a:xfrm>
            <a:off x="493776" y="2914650"/>
            <a:ext cx="260604" cy="260604"/>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4</a:t>
            </a:r>
            <a:endParaRPr sz="1100"/>
          </a:p>
        </p:txBody>
      </p:sp>
      <p:sp>
        <p:nvSpPr>
          <p:cNvPr id="345" name="Google Shape;345;p31"/>
          <p:cNvSpPr txBox="1"/>
          <p:nvPr/>
        </p:nvSpPr>
        <p:spPr>
          <a:xfrm>
            <a:off x="870966" y="2873502"/>
            <a:ext cx="226314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Temporal consistency</a:t>
            </a:r>
            <a:endParaRPr sz="1100"/>
          </a:p>
        </p:txBody>
      </p:sp>
      <p:sp>
        <p:nvSpPr>
          <p:cNvPr id="346" name="Google Shape;346;p31"/>
          <p:cNvSpPr txBox="1"/>
          <p:nvPr/>
        </p:nvSpPr>
        <p:spPr>
          <a:xfrm>
            <a:off x="870966" y="3147822"/>
            <a:ext cx="2263140" cy="30861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and enough days with substantial activity</a:t>
            </a:r>
            <a:endParaRPr sz="1100"/>
          </a:p>
        </p:txBody>
      </p:sp>
      <p:pic>
        <p:nvPicPr>
          <p:cNvPr descr="f4.png" id="347" name="Google Shape;347;p31"/>
          <p:cNvPicPr preferRelativeResize="0"/>
          <p:nvPr/>
        </p:nvPicPr>
        <p:blipFill rotWithShape="1">
          <a:blip r:embed="rId6">
            <a:alphaModFix/>
          </a:blip>
          <a:srcRect b="0" l="0" r="0" t="0"/>
          <a:stretch/>
        </p:blipFill>
        <p:spPr>
          <a:xfrm>
            <a:off x="3360420" y="2900934"/>
            <a:ext cx="2948939" cy="328724"/>
          </a:xfrm>
          <a:prstGeom prst="rect">
            <a:avLst/>
          </a:prstGeom>
          <a:noFill/>
          <a:ln>
            <a:noFill/>
          </a:ln>
        </p:spPr>
      </p:pic>
      <p:sp>
        <p:nvSpPr>
          <p:cNvPr id="348" name="Google Shape;348;p31"/>
          <p:cNvSpPr/>
          <p:nvPr/>
        </p:nvSpPr>
        <p:spPr>
          <a:xfrm>
            <a:off x="493776" y="3518154"/>
            <a:ext cx="260604" cy="260604"/>
          </a:xfrm>
          <a:prstGeom prst="ellipse">
            <a:avLst/>
          </a:prstGeom>
          <a:solidFill>
            <a:srgbClr val="3333B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5</a:t>
            </a:r>
            <a:endParaRPr sz="1100"/>
          </a:p>
        </p:txBody>
      </p:sp>
      <p:sp>
        <p:nvSpPr>
          <p:cNvPr id="349" name="Google Shape;349;p31"/>
          <p:cNvSpPr txBox="1"/>
          <p:nvPr/>
        </p:nvSpPr>
        <p:spPr>
          <a:xfrm>
            <a:off x="870966" y="3477006"/>
            <a:ext cx="226314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Rainfall removal</a:t>
            </a:r>
            <a:endParaRPr sz="1100"/>
          </a:p>
        </p:txBody>
      </p:sp>
      <p:sp>
        <p:nvSpPr>
          <p:cNvPr id="350" name="Google Shape;350;p31"/>
          <p:cNvSpPr txBox="1"/>
          <p:nvPr/>
        </p:nvSpPr>
        <p:spPr>
          <a:xfrm>
            <a:off x="870966" y="3751326"/>
            <a:ext cx="2263140" cy="30861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heavy-rain segments excluded before index computation</a:t>
            </a:r>
            <a:endParaRPr sz="1100"/>
          </a:p>
        </p:txBody>
      </p:sp>
      <p:sp>
        <p:nvSpPr>
          <p:cNvPr id="351" name="Google Shape;351;p31"/>
          <p:cNvSpPr txBox="1"/>
          <p:nvPr/>
        </p:nvSpPr>
        <p:spPr>
          <a:xfrm>
            <a:off x="3360420" y="3545586"/>
            <a:ext cx="294894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1" lang="en" sz="1100" u="none" cap="none" strike="noStrike">
                <a:solidFill>
                  <a:srgbClr val="5F5C5C"/>
                </a:solidFill>
                <a:latin typeface="Calibri"/>
                <a:ea typeface="Calibri"/>
                <a:cs typeface="Calibri"/>
                <a:sym typeface="Calibri"/>
              </a:rPr>
              <a:t>see Pre-processing</a:t>
            </a:r>
            <a:endParaRPr sz="1100"/>
          </a:p>
        </p:txBody>
      </p:sp>
      <p:sp>
        <p:nvSpPr>
          <p:cNvPr id="352" name="Google Shape;352;p31"/>
          <p:cNvSpPr/>
          <p:nvPr/>
        </p:nvSpPr>
        <p:spPr>
          <a:xfrm>
            <a:off x="6480810" y="1062990"/>
            <a:ext cx="2160270" cy="294894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3" name="Google Shape;353;p31"/>
          <p:cNvSpPr txBox="1"/>
          <p:nvPr/>
        </p:nvSpPr>
        <p:spPr>
          <a:xfrm>
            <a:off x="6617970" y="1200150"/>
            <a:ext cx="192024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3333B2"/>
                </a:solidFill>
                <a:latin typeface="Calibri"/>
                <a:ea typeface="Calibri"/>
                <a:cs typeface="Calibri"/>
                <a:sym typeface="Calibri"/>
              </a:rPr>
              <a:t>Two datasets</a:t>
            </a:r>
            <a:endParaRPr sz="1100"/>
          </a:p>
        </p:txBody>
      </p:sp>
      <p:sp>
        <p:nvSpPr>
          <p:cNvPr id="354" name="Google Shape;354;p31"/>
          <p:cNvSpPr txBox="1"/>
          <p:nvPr/>
        </p:nvSpPr>
        <p:spPr>
          <a:xfrm>
            <a:off x="6617970" y="1543050"/>
            <a:ext cx="1920240" cy="24003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000" u="none" cap="none" strike="noStrike">
                <a:solidFill>
                  <a:srgbClr val="272525"/>
                </a:solidFill>
                <a:latin typeface="Calibri"/>
                <a:ea typeface="Calibri"/>
                <a:cs typeface="Calibri"/>
                <a:sym typeface="Calibri"/>
              </a:rPr>
              <a:t>Quality-filtered</a:t>
            </a:r>
            <a:endParaRPr sz="1100"/>
          </a:p>
          <a:p>
            <a:pPr indent="0" lvl="0" marL="0" marR="0" rtl="0" algn="l">
              <a:lnSpc>
                <a:spcPct val="108000"/>
              </a:lnSpc>
              <a:spcBef>
                <a:spcPts val="400"/>
              </a:spcBef>
              <a:spcAft>
                <a:spcPts val="0"/>
              </a:spcAft>
              <a:buNone/>
            </a:pPr>
            <a:r>
              <a:rPr b="0" i="0" lang="en" sz="1000" u="none" cap="none" strike="noStrike">
                <a:solidFill>
                  <a:srgbClr val="5F5C5C"/>
                </a:solidFill>
                <a:latin typeface="Calibri"/>
                <a:ea typeface="Calibri"/>
                <a:cs typeface="Calibri"/>
                <a:sym typeface="Calibri"/>
              </a:rPr>
              <a:t>steps 1–3. The default for every analysis.</a:t>
            </a:r>
            <a:endParaRPr sz="1100"/>
          </a:p>
          <a:p>
            <a:pPr indent="0" lvl="0" marL="0" marR="0" rtl="0" algn="l">
              <a:lnSpc>
                <a:spcPct val="108000"/>
              </a:lnSpc>
              <a:spcBef>
                <a:spcPts val="400"/>
              </a:spcBef>
              <a:spcAft>
                <a:spcPts val="0"/>
              </a:spcAft>
              <a:buNone/>
            </a:pPr>
            <a:r>
              <a:rPr b="1" i="0" lang="en" sz="1000" u="none" cap="none" strike="noStrike">
                <a:solidFill>
                  <a:srgbClr val="272525"/>
                </a:solidFill>
                <a:latin typeface="Calibri"/>
                <a:ea typeface="Calibri"/>
                <a:cs typeface="Calibri"/>
                <a:sym typeface="Calibri"/>
              </a:rPr>
              <a:t>Temporally filtered</a:t>
            </a:r>
            <a:endParaRPr sz="1100"/>
          </a:p>
          <a:p>
            <a:pPr indent="0" lvl="0" marL="0" marR="0" rtl="0" algn="l">
              <a:lnSpc>
                <a:spcPct val="108000"/>
              </a:lnSpc>
              <a:spcBef>
                <a:spcPts val="400"/>
              </a:spcBef>
              <a:spcAft>
                <a:spcPts val="0"/>
              </a:spcAft>
              <a:buNone/>
            </a:pPr>
            <a:r>
              <a:rPr b="0" i="0" lang="en" sz="1000" u="none" cap="none" strike="noStrike">
                <a:solidFill>
                  <a:srgbClr val="5F5C5C"/>
                </a:solidFill>
                <a:latin typeface="Calibri"/>
                <a:ea typeface="Calibri"/>
                <a:cs typeface="Calibri"/>
                <a:sym typeface="Calibri"/>
              </a:rPr>
              <a:t>steps 1–4. Used where day-to-day structure matters: migration and solar alignment.</a:t>
            </a:r>
            <a:endParaRPr sz="1100"/>
          </a:p>
          <a:p>
            <a:pPr indent="0" lvl="0" marL="0" marR="0" rtl="0" algn="l">
              <a:lnSpc>
                <a:spcPct val="108000"/>
              </a:lnSpc>
              <a:spcBef>
                <a:spcPts val="400"/>
              </a:spcBef>
              <a:spcAft>
                <a:spcPts val="0"/>
              </a:spcAft>
              <a:buNone/>
            </a:pPr>
            <a:r>
              <a:rPr b="1" i="0" lang="en" sz="1000" u="none" cap="none" strike="noStrike">
                <a:solidFill>
                  <a:srgbClr val="272525"/>
                </a:solidFill>
                <a:latin typeface="Calibri"/>
                <a:ea typeface="Calibri"/>
                <a:cs typeface="Calibri"/>
                <a:sym typeface="Calibri"/>
              </a:rPr>
              <a:t>Where each is used</a:t>
            </a:r>
            <a:endParaRPr sz="1100"/>
          </a:p>
          <a:p>
            <a:pPr indent="0" lvl="0" marL="0" marR="0" rtl="0" algn="l">
              <a:lnSpc>
                <a:spcPct val="108000"/>
              </a:lnSpc>
              <a:spcBef>
                <a:spcPts val="400"/>
              </a:spcBef>
              <a:spcAft>
                <a:spcPts val="0"/>
              </a:spcAft>
              <a:buNone/>
            </a:pPr>
            <a:r>
              <a:rPr b="0" i="0" lang="en" sz="1000" u="none" cap="none" strike="noStrike">
                <a:solidFill>
                  <a:srgbClr val="5F5C5C"/>
                </a:solidFill>
                <a:latin typeface="Calibri"/>
                <a:ea typeface="Calibri"/>
                <a:cs typeface="Calibri"/>
                <a:sym typeface="Calibri"/>
              </a:rPr>
              <a:t>indices, regularity, affinity → quality-filtered</a:t>
            </a:r>
            <a:br>
              <a:rPr b="0" i="0" lang="en" sz="1000" u="none" cap="none" strike="noStrike">
                <a:solidFill>
                  <a:srgbClr val="5F5C5C"/>
                </a:solidFill>
                <a:latin typeface="Calibri"/>
                <a:ea typeface="Calibri"/>
                <a:cs typeface="Calibri"/>
                <a:sym typeface="Calibri"/>
              </a:rPr>
            </a:br>
            <a:r>
              <a:rPr b="0" i="0" lang="en" sz="1000" u="none" cap="none" strike="noStrike">
                <a:solidFill>
                  <a:srgbClr val="5F5C5C"/>
                </a:solidFill>
                <a:latin typeface="Calibri"/>
                <a:ea typeface="Calibri"/>
                <a:cs typeface="Calibri"/>
                <a:sym typeface="Calibri"/>
              </a:rPr>
              <a:t>migration, solar → temporally filtered</a:t>
            </a:r>
            <a:endParaRPr sz="1100"/>
          </a:p>
        </p:txBody>
      </p:sp>
      <p:sp>
        <p:nvSpPr>
          <p:cNvPr id="355" name="Google Shape;355;p31"/>
          <p:cNvSpPr txBox="1"/>
          <p:nvPr/>
        </p:nvSpPr>
        <p:spPr>
          <a:xfrm>
            <a:off x="493776" y="4149090"/>
            <a:ext cx="5829300" cy="3429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1" lang="en" sz="1000" u="none" cap="none" strike="noStrike">
                <a:solidFill>
                  <a:srgbClr val="5F5C5C"/>
                </a:solidFill>
                <a:latin typeface="Calibri"/>
                <a:ea typeface="Calibri"/>
                <a:cs typeface="Calibri"/>
                <a:sym typeface="Calibri"/>
              </a:rPr>
              <a:t>C_s,k is the daily total for species s, summed over sites and hours.</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2"/>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a:p>
        </p:txBody>
      </p:sp>
      <p:sp>
        <p:nvSpPr>
          <p:cNvPr id="362" name="Google Shape;362;p32"/>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3" name="Google Shape;363;p32"/>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Acoustic indices: the soundscape without species</a:t>
            </a:r>
            <a:endParaRPr sz="1100"/>
          </a:p>
        </p:txBody>
      </p:sp>
      <p:sp>
        <p:nvSpPr>
          <p:cNvPr id="364" name="Google Shape;364;p32"/>
          <p:cNvSpPr/>
          <p:nvPr/>
        </p:nvSpPr>
        <p:spPr>
          <a:xfrm>
            <a:off x="493776"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5" name="Google Shape;365;p32"/>
          <p:cNvSpPr txBox="1"/>
          <p:nvPr/>
        </p:nvSpPr>
        <p:spPr>
          <a:xfrm>
            <a:off x="493776"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1  Record</a:t>
            </a:r>
            <a:endParaRPr sz="1100"/>
          </a:p>
        </p:txBody>
      </p:sp>
      <p:sp>
        <p:nvSpPr>
          <p:cNvPr id="366" name="Google Shape;366;p32"/>
          <p:cNvSpPr/>
          <p:nvPr/>
        </p:nvSpPr>
        <p:spPr>
          <a:xfrm>
            <a:off x="2056714"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7" name="Google Shape;367;p32"/>
          <p:cNvSpPr/>
          <p:nvPr/>
        </p:nvSpPr>
        <p:spPr>
          <a:xfrm>
            <a:off x="2149297"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8" name="Google Shape;368;p32"/>
          <p:cNvSpPr txBox="1"/>
          <p:nvPr/>
        </p:nvSpPr>
        <p:spPr>
          <a:xfrm>
            <a:off x="2149297"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2  Pre-process</a:t>
            </a:r>
            <a:endParaRPr sz="1100"/>
          </a:p>
        </p:txBody>
      </p:sp>
      <p:sp>
        <p:nvSpPr>
          <p:cNvPr id="369" name="Google Shape;369;p32"/>
          <p:cNvSpPr/>
          <p:nvPr/>
        </p:nvSpPr>
        <p:spPr>
          <a:xfrm>
            <a:off x="371223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0" name="Google Shape;370;p32"/>
          <p:cNvSpPr/>
          <p:nvPr/>
        </p:nvSpPr>
        <p:spPr>
          <a:xfrm>
            <a:off x="380481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1" name="Google Shape;371;p32"/>
          <p:cNvSpPr txBox="1"/>
          <p:nvPr/>
        </p:nvSpPr>
        <p:spPr>
          <a:xfrm>
            <a:off x="380481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3  Detect</a:t>
            </a:r>
            <a:endParaRPr sz="1100"/>
          </a:p>
        </p:txBody>
      </p:sp>
      <p:sp>
        <p:nvSpPr>
          <p:cNvPr id="372" name="Google Shape;372;p32"/>
          <p:cNvSpPr/>
          <p:nvPr/>
        </p:nvSpPr>
        <p:spPr>
          <a:xfrm>
            <a:off x="536775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3" name="Google Shape;373;p32"/>
          <p:cNvSpPr/>
          <p:nvPr/>
        </p:nvSpPr>
        <p:spPr>
          <a:xfrm>
            <a:off x="546033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4" name="Google Shape;374;p32"/>
          <p:cNvSpPr txBox="1"/>
          <p:nvPr/>
        </p:nvSpPr>
        <p:spPr>
          <a:xfrm>
            <a:off x="546033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4  Filter</a:t>
            </a:r>
            <a:endParaRPr sz="1100"/>
          </a:p>
        </p:txBody>
      </p:sp>
      <p:sp>
        <p:nvSpPr>
          <p:cNvPr id="375" name="Google Shape;375;p32"/>
          <p:cNvSpPr/>
          <p:nvPr/>
        </p:nvSpPr>
        <p:spPr>
          <a:xfrm>
            <a:off x="7023276"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6" name="Google Shape;376;p32"/>
          <p:cNvSpPr/>
          <p:nvPr/>
        </p:nvSpPr>
        <p:spPr>
          <a:xfrm>
            <a:off x="7115859" y="651510"/>
            <a:ext cx="1532077" cy="288036"/>
          </a:xfrm>
          <a:prstGeom prst="roundRect">
            <a:avLst>
              <a:gd fmla="val 30000" name="adj"/>
            </a:avLst>
          </a:prstGeom>
          <a:solidFill>
            <a:srgbClr val="3333B2"/>
          </a:solidFill>
          <a:ln cap="flat" cmpd="sng" w="12700">
            <a:solidFill>
              <a:srgbClr val="3333B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7" name="Google Shape;377;p32"/>
          <p:cNvSpPr txBox="1"/>
          <p:nvPr/>
        </p:nvSpPr>
        <p:spPr>
          <a:xfrm>
            <a:off x="7115859"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1" i="0" lang="en" sz="1000" u="none" cap="none" strike="noStrike">
                <a:solidFill>
                  <a:srgbClr val="FFFFFF"/>
                </a:solidFill>
                <a:latin typeface="Calibri"/>
                <a:ea typeface="Calibri"/>
                <a:cs typeface="Calibri"/>
                <a:sym typeface="Calibri"/>
              </a:rPr>
              <a:t>5  Analyse</a:t>
            </a:r>
            <a:endParaRPr sz="1100"/>
          </a:p>
        </p:txBody>
      </p:sp>
      <p:sp>
        <p:nvSpPr>
          <p:cNvPr id="378" name="Google Shape;378;p32"/>
          <p:cNvSpPr/>
          <p:nvPr/>
        </p:nvSpPr>
        <p:spPr>
          <a:xfrm>
            <a:off x="493776" y="1062990"/>
            <a:ext cx="3974211" cy="144018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9" name="Google Shape;379;p32"/>
          <p:cNvSpPr txBox="1"/>
          <p:nvPr/>
        </p:nvSpPr>
        <p:spPr>
          <a:xfrm>
            <a:off x="644652" y="1159002"/>
            <a:ext cx="82296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ADI</a:t>
            </a:r>
            <a:endParaRPr sz="1100"/>
          </a:p>
        </p:txBody>
      </p:sp>
      <p:sp>
        <p:nvSpPr>
          <p:cNvPr id="380" name="Google Shape;380;p32"/>
          <p:cNvSpPr txBox="1"/>
          <p:nvPr/>
        </p:nvSpPr>
        <p:spPr>
          <a:xfrm>
            <a:off x="1351026" y="1200150"/>
            <a:ext cx="2945511"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Acoustic Diversity Index</a:t>
            </a:r>
            <a:endParaRPr sz="1100"/>
          </a:p>
        </p:txBody>
      </p:sp>
      <p:pic>
        <p:nvPicPr>
          <p:cNvPr descr="adi.png" id="381" name="Google Shape;381;p32"/>
          <p:cNvPicPr preferRelativeResize="0"/>
          <p:nvPr/>
        </p:nvPicPr>
        <p:blipFill rotWithShape="1">
          <a:blip r:embed="rId3">
            <a:alphaModFix/>
          </a:blip>
          <a:srcRect b="0" l="0" r="0" t="0"/>
          <a:stretch/>
        </p:blipFill>
        <p:spPr>
          <a:xfrm>
            <a:off x="644652" y="1440180"/>
            <a:ext cx="2201563" cy="617220"/>
          </a:xfrm>
          <a:prstGeom prst="rect">
            <a:avLst/>
          </a:prstGeom>
          <a:noFill/>
          <a:ln>
            <a:noFill/>
          </a:ln>
        </p:spPr>
      </p:pic>
      <p:sp>
        <p:nvSpPr>
          <p:cNvPr id="382" name="Google Shape;382;p32"/>
          <p:cNvSpPr txBox="1"/>
          <p:nvPr/>
        </p:nvSpPr>
        <p:spPr>
          <a:xfrm>
            <a:off x="644652" y="2091690"/>
            <a:ext cx="3672459" cy="3977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Shannon entropy of energy across N frequency bands. Higher = energy spread evenly, typical of many vocalising species.</a:t>
            </a:r>
            <a:endParaRPr sz="1100"/>
          </a:p>
        </p:txBody>
      </p:sp>
      <p:sp>
        <p:nvSpPr>
          <p:cNvPr id="383" name="Google Shape;383;p32"/>
          <p:cNvSpPr/>
          <p:nvPr/>
        </p:nvSpPr>
        <p:spPr>
          <a:xfrm>
            <a:off x="4673727" y="1062990"/>
            <a:ext cx="3974211" cy="144018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4" name="Google Shape;384;p32"/>
          <p:cNvSpPr txBox="1"/>
          <p:nvPr/>
        </p:nvSpPr>
        <p:spPr>
          <a:xfrm>
            <a:off x="4824603" y="1159002"/>
            <a:ext cx="82296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ACI</a:t>
            </a:r>
            <a:endParaRPr sz="1100"/>
          </a:p>
        </p:txBody>
      </p:sp>
      <p:sp>
        <p:nvSpPr>
          <p:cNvPr id="385" name="Google Shape;385;p32"/>
          <p:cNvSpPr txBox="1"/>
          <p:nvPr/>
        </p:nvSpPr>
        <p:spPr>
          <a:xfrm>
            <a:off x="5530977" y="1200150"/>
            <a:ext cx="2945511"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Acoustic Complexity Index</a:t>
            </a:r>
            <a:endParaRPr sz="1100"/>
          </a:p>
        </p:txBody>
      </p:sp>
      <p:pic>
        <p:nvPicPr>
          <p:cNvPr descr="aci.png" id="386" name="Google Shape;386;p32"/>
          <p:cNvPicPr preferRelativeResize="0"/>
          <p:nvPr/>
        </p:nvPicPr>
        <p:blipFill rotWithShape="1">
          <a:blip r:embed="rId4">
            <a:alphaModFix/>
          </a:blip>
          <a:srcRect b="0" l="0" r="0" t="0"/>
          <a:stretch/>
        </p:blipFill>
        <p:spPr>
          <a:xfrm>
            <a:off x="4824603" y="1440180"/>
            <a:ext cx="1483256" cy="617220"/>
          </a:xfrm>
          <a:prstGeom prst="rect">
            <a:avLst/>
          </a:prstGeom>
          <a:noFill/>
          <a:ln>
            <a:noFill/>
          </a:ln>
        </p:spPr>
      </p:pic>
      <p:sp>
        <p:nvSpPr>
          <p:cNvPr id="387" name="Google Shape;387;p32"/>
          <p:cNvSpPr txBox="1"/>
          <p:nvPr/>
        </p:nvSpPr>
        <p:spPr>
          <a:xfrm>
            <a:off x="4824603" y="2091690"/>
            <a:ext cx="3672459" cy="3977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Frame-to-frame change in amplitude, averaged over bins. High = rapid modulation, like birdsong; low = steady noise.</a:t>
            </a:r>
            <a:endParaRPr sz="1100"/>
          </a:p>
        </p:txBody>
      </p:sp>
      <p:sp>
        <p:nvSpPr>
          <p:cNvPr id="388" name="Google Shape;388;p32"/>
          <p:cNvSpPr/>
          <p:nvPr/>
        </p:nvSpPr>
        <p:spPr>
          <a:xfrm>
            <a:off x="493776" y="2606040"/>
            <a:ext cx="3974211" cy="144018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9" name="Google Shape;389;p32"/>
          <p:cNvSpPr txBox="1"/>
          <p:nvPr/>
        </p:nvSpPr>
        <p:spPr>
          <a:xfrm>
            <a:off x="644652" y="2702052"/>
            <a:ext cx="82296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AEI</a:t>
            </a:r>
            <a:endParaRPr sz="1100"/>
          </a:p>
        </p:txBody>
      </p:sp>
      <p:sp>
        <p:nvSpPr>
          <p:cNvPr id="390" name="Google Shape;390;p32"/>
          <p:cNvSpPr txBox="1"/>
          <p:nvPr/>
        </p:nvSpPr>
        <p:spPr>
          <a:xfrm>
            <a:off x="1351026" y="2743200"/>
            <a:ext cx="2945511"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Acoustic Evenness Index</a:t>
            </a:r>
            <a:endParaRPr sz="1100"/>
          </a:p>
        </p:txBody>
      </p:sp>
      <p:pic>
        <p:nvPicPr>
          <p:cNvPr descr="aei.png" id="391" name="Google Shape;391;p32"/>
          <p:cNvPicPr preferRelativeResize="0"/>
          <p:nvPr/>
        </p:nvPicPr>
        <p:blipFill rotWithShape="1">
          <a:blip r:embed="rId5">
            <a:alphaModFix/>
          </a:blip>
          <a:srcRect b="0" l="0" r="0" t="0"/>
          <a:stretch/>
        </p:blipFill>
        <p:spPr>
          <a:xfrm>
            <a:off x="644652" y="2983230"/>
            <a:ext cx="2216273" cy="617220"/>
          </a:xfrm>
          <a:prstGeom prst="rect">
            <a:avLst/>
          </a:prstGeom>
          <a:noFill/>
          <a:ln>
            <a:noFill/>
          </a:ln>
        </p:spPr>
      </p:pic>
      <p:sp>
        <p:nvSpPr>
          <p:cNvPr id="392" name="Google Shape;392;p32"/>
          <p:cNvSpPr txBox="1"/>
          <p:nvPr/>
        </p:nvSpPr>
        <p:spPr>
          <a:xfrm>
            <a:off x="644652" y="3634740"/>
            <a:ext cx="3672459" cy="3977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Complement of the Gini coefficient of band energy. Penalises one band dominating.</a:t>
            </a:r>
            <a:endParaRPr sz="1100"/>
          </a:p>
        </p:txBody>
      </p:sp>
      <p:sp>
        <p:nvSpPr>
          <p:cNvPr id="393" name="Google Shape;393;p32"/>
          <p:cNvSpPr/>
          <p:nvPr/>
        </p:nvSpPr>
        <p:spPr>
          <a:xfrm>
            <a:off x="4673727" y="2606040"/>
            <a:ext cx="3974211" cy="1440180"/>
          </a:xfrm>
          <a:prstGeom prst="roundRect">
            <a:avLst>
              <a:gd fmla="val 6000" name="adj"/>
            </a:avLst>
          </a:prstGeom>
          <a:solidFill>
            <a:srgbClr val="EEEEF8"/>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a:p>
        </p:txBody>
      </p:sp>
      <p:sp>
        <p:nvSpPr>
          <p:cNvPr id="394" name="Google Shape;394;p32"/>
          <p:cNvSpPr txBox="1"/>
          <p:nvPr/>
        </p:nvSpPr>
        <p:spPr>
          <a:xfrm>
            <a:off x="4824603" y="2702052"/>
            <a:ext cx="82296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NDSI</a:t>
            </a:r>
            <a:endParaRPr sz="1100"/>
          </a:p>
        </p:txBody>
      </p:sp>
      <p:sp>
        <p:nvSpPr>
          <p:cNvPr id="395" name="Google Shape;395;p32"/>
          <p:cNvSpPr txBox="1"/>
          <p:nvPr/>
        </p:nvSpPr>
        <p:spPr>
          <a:xfrm>
            <a:off x="5530977" y="2743200"/>
            <a:ext cx="2945511"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5F5C5C"/>
                </a:solidFill>
                <a:latin typeface="Calibri"/>
                <a:ea typeface="Calibri"/>
                <a:cs typeface="Calibri"/>
                <a:sym typeface="Calibri"/>
              </a:rPr>
              <a:t>Normalized Difference Soundscape Index</a:t>
            </a:r>
            <a:endParaRPr sz="1100"/>
          </a:p>
        </p:txBody>
      </p:sp>
      <p:pic>
        <p:nvPicPr>
          <p:cNvPr descr="ndsi.png" id="396" name="Google Shape;396;p32"/>
          <p:cNvPicPr preferRelativeResize="0"/>
          <p:nvPr/>
        </p:nvPicPr>
        <p:blipFill rotWithShape="1">
          <a:blip r:embed="rId6">
            <a:alphaModFix/>
          </a:blip>
          <a:srcRect b="0" l="0" r="0" t="0"/>
          <a:stretch/>
        </p:blipFill>
        <p:spPr>
          <a:xfrm>
            <a:off x="5042577" y="3099825"/>
            <a:ext cx="1400223" cy="411475"/>
          </a:xfrm>
          <a:prstGeom prst="rect">
            <a:avLst/>
          </a:prstGeom>
          <a:noFill/>
          <a:ln>
            <a:noFill/>
          </a:ln>
        </p:spPr>
      </p:pic>
      <p:sp>
        <p:nvSpPr>
          <p:cNvPr id="397" name="Google Shape;397;p32"/>
          <p:cNvSpPr txBox="1"/>
          <p:nvPr/>
        </p:nvSpPr>
        <p:spPr>
          <a:xfrm>
            <a:off x="4824603" y="3634740"/>
            <a:ext cx="3672459" cy="39776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Biophony (2–11 kHz) against anthrophony (1–2 kHz). −1 all traffic, +1 all birds and insects.</a:t>
            </a:r>
            <a:endParaRPr sz="1100"/>
          </a:p>
        </p:txBody>
      </p:sp>
      <p:sp>
        <p:nvSpPr>
          <p:cNvPr id="398" name="Google Shape;398;p32"/>
          <p:cNvSpPr txBox="1"/>
          <p:nvPr/>
        </p:nvSpPr>
        <p:spPr>
          <a:xfrm>
            <a:off x="493776" y="4217670"/>
            <a:ext cx="8154162" cy="4114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000" u="none" cap="none" strike="noStrike">
                <a:solidFill>
                  <a:srgbClr val="272525"/>
                </a:solidFill>
                <a:latin typeface="Calibri"/>
                <a:ea typeface="Calibri"/>
                <a:cs typeface="Calibri"/>
                <a:sym typeface="Calibri"/>
              </a:rPr>
              <a:t>Urban masking.  </a:t>
            </a:r>
            <a:r>
              <a:rPr b="0" i="0" lang="en" sz="1000" u="none" cap="none" strike="noStrike">
                <a:solidFill>
                  <a:srgbClr val="5F5C5C"/>
                </a:solidFill>
                <a:latin typeface="Calibri"/>
                <a:ea typeface="Calibri"/>
                <a:cs typeface="Calibri"/>
                <a:sym typeface="Calibri"/>
              </a:rPr>
              <a:t>At Sites 2 and 3 a high AEI did not mean a balanced soundscape but white-noise saturation from distant traffic. NDSI is what penalises that; no single index is read alone.</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3"/>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5" name="Google Shape;405;p33"/>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6" name="Google Shape;406;p33"/>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Activity Regularity and Habitat Affinity</a:t>
            </a:r>
            <a:endParaRPr sz="1100"/>
          </a:p>
        </p:txBody>
      </p:sp>
      <p:sp>
        <p:nvSpPr>
          <p:cNvPr id="407" name="Google Shape;407;p33"/>
          <p:cNvSpPr/>
          <p:nvPr/>
        </p:nvSpPr>
        <p:spPr>
          <a:xfrm>
            <a:off x="493776"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8" name="Google Shape;408;p33"/>
          <p:cNvSpPr txBox="1"/>
          <p:nvPr/>
        </p:nvSpPr>
        <p:spPr>
          <a:xfrm>
            <a:off x="493776"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1  Record</a:t>
            </a:r>
            <a:endParaRPr sz="1100"/>
          </a:p>
        </p:txBody>
      </p:sp>
      <p:sp>
        <p:nvSpPr>
          <p:cNvPr id="409" name="Google Shape;409;p33"/>
          <p:cNvSpPr/>
          <p:nvPr/>
        </p:nvSpPr>
        <p:spPr>
          <a:xfrm>
            <a:off x="2056714"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0" name="Google Shape;410;p33"/>
          <p:cNvSpPr/>
          <p:nvPr/>
        </p:nvSpPr>
        <p:spPr>
          <a:xfrm>
            <a:off x="2149297"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1" name="Google Shape;411;p33"/>
          <p:cNvSpPr txBox="1"/>
          <p:nvPr/>
        </p:nvSpPr>
        <p:spPr>
          <a:xfrm>
            <a:off x="2149297"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2  Pre-process</a:t>
            </a:r>
            <a:endParaRPr sz="1100"/>
          </a:p>
        </p:txBody>
      </p:sp>
      <p:sp>
        <p:nvSpPr>
          <p:cNvPr id="412" name="Google Shape;412;p33"/>
          <p:cNvSpPr/>
          <p:nvPr/>
        </p:nvSpPr>
        <p:spPr>
          <a:xfrm>
            <a:off x="371223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3" name="Google Shape;413;p33"/>
          <p:cNvSpPr/>
          <p:nvPr/>
        </p:nvSpPr>
        <p:spPr>
          <a:xfrm>
            <a:off x="380481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4" name="Google Shape;414;p33"/>
          <p:cNvSpPr txBox="1"/>
          <p:nvPr/>
        </p:nvSpPr>
        <p:spPr>
          <a:xfrm>
            <a:off x="380481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3  Detect</a:t>
            </a:r>
            <a:endParaRPr sz="1100"/>
          </a:p>
        </p:txBody>
      </p:sp>
      <p:sp>
        <p:nvSpPr>
          <p:cNvPr id="415" name="Google Shape;415;p33"/>
          <p:cNvSpPr/>
          <p:nvPr/>
        </p:nvSpPr>
        <p:spPr>
          <a:xfrm>
            <a:off x="536775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6" name="Google Shape;416;p33"/>
          <p:cNvSpPr/>
          <p:nvPr/>
        </p:nvSpPr>
        <p:spPr>
          <a:xfrm>
            <a:off x="546033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7" name="Google Shape;417;p33"/>
          <p:cNvSpPr txBox="1"/>
          <p:nvPr/>
        </p:nvSpPr>
        <p:spPr>
          <a:xfrm>
            <a:off x="546033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4  Filter</a:t>
            </a:r>
            <a:endParaRPr sz="1100"/>
          </a:p>
        </p:txBody>
      </p:sp>
      <p:sp>
        <p:nvSpPr>
          <p:cNvPr id="418" name="Google Shape;418;p33"/>
          <p:cNvSpPr/>
          <p:nvPr/>
        </p:nvSpPr>
        <p:spPr>
          <a:xfrm>
            <a:off x="7023276"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9" name="Google Shape;419;p33"/>
          <p:cNvSpPr/>
          <p:nvPr/>
        </p:nvSpPr>
        <p:spPr>
          <a:xfrm>
            <a:off x="7115859" y="651510"/>
            <a:ext cx="1532077" cy="288036"/>
          </a:xfrm>
          <a:prstGeom prst="roundRect">
            <a:avLst>
              <a:gd fmla="val 30000" name="adj"/>
            </a:avLst>
          </a:prstGeom>
          <a:solidFill>
            <a:srgbClr val="3333B2"/>
          </a:solidFill>
          <a:ln cap="flat" cmpd="sng" w="12700">
            <a:solidFill>
              <a:srgbClr val="3333B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20" name="Google Shape;420;p33"/>
          <p:cNvSpPr txBox="1"/>
          <p:nvPr/>
        </p:nvSpPr>
        <p:spPr>
          <a:xfrm>
            <a:off x="7115859"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1" i="0" lang="en" sz="1000" u="none" cap="none" strike="noStrike">
                <a:solidFill>
                  <a:srgbClr val="FFFFFF"/>
                </a:solidFill>
                <a:latin typeface="Calibri"/>
                <a:ea typeface="Calibri"/>
                <a:cs typeface="Calibri"/>
                <a:sym typeface="Calibri"/>
              </a:rPr>
              <a:t>5  Analyse</a:t>
            </a:r>
            <a:endParaRPr sz="1100"/>
          </a:p>
        </p:txBody>
      </p:sp>
      <p:sp>
        <p:nvSpPr>
          <p:cNvPr id="421" name="Google Shape;421;p33"/>
          <p:cNvSpPr txBox="1"/>
          <p:nvPr/>
        </p:nvSpPr>
        <p:spPr>
          <a:xfrm>
            <a:off x="493776" y="1028700"/>
            <a:ext cx="8154162"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200" u="none" cap="none" strike="noStrike">
                <a:solidFill>
                  <a:srgbClr val="272525"/>
                </a:solidFill>
                <a:latin typeface="Calibri"/>
                <a:ea typeface="Calibri"/>
                <a:cs typeface="Calibri"/>
                <a:sym typeface="Calibri"/>
              </a:rPr>
              <a:t>The same idea twice: correlate consecutive days. AR asks when a bird calls; HA asks where.</a:t>
            </a:r>
            <a:endParaRPr sz="1100"/>
          </a:p>
        </p:txBody>
      </p:sp>
      <p:sp>
        <p:nvSpPr>
          <p:cNvPr id="422" name="Google Shape;422;p33"/>
          <p:cNvSpPr/>
          <p:nvPr/>
        </p:nvSpPr>
        <p:spPr>
          <a:xfrm>
            <a:off x="493776" y="1337310"/>
            <a:ext cx="3974211" cy="2983229"/>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23" name="Google Shape;423;p33"/>
          <p:cNvSpPr txBox="1"/>
          <p:nvPr/>
        </p:nvSpPr>
        <p:spPr>
          <a:xfrm>
            <a:off x="644652" y="1426464"/>
            <a:ext cx="3672459"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3333B2"/>
                </a:solidFill>
                <a:latin typeface="Calibri"/>
                <a:ea typeface="Calibri"/>
                <a:cs typeface="Calibri"/>
                <a:sym typeface="Calibri"/>
              </a:rPr>
              <a:t>Activity Regularity  AR</a:t>
            </a:r>
            <a:endParaRPr sz="1100"/>
          </a:p>
        </p:txBody>
      </p:sp>
      <p:sp>
        <p:nvSpPr>
          <p:cNvPr id="424" name="Google Shape;424;p33"/>
          <p:cNvSpPr txBox="1"/>
          <p:nvPr/>
        </p:nvSpPr>
        <p:spPr>
          <a:xfrm>
            <a:off x="644652" y="1680210"/>
            <a:ext cx="3672459"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Does a species keep the same hourly schedule from one day to the next?</a:t>
            </a:r>
            <a:endParaRPr sz="1100"/>
          </a:p>
        </p:txBody>
      </p:sp>
      <p:pic>
        <p:nvPicPr>
          <p:cNvPr descr="ar0.png" id="425" name="Google Shape;425;p33"/>
          <p:cNvPicPr preferRelativeResize="0"/>
          <p:nvPr/>
        </p:nvPicPr>
        <p:blipFill rotWithShape="1">
          <a:blip r:embed="rId3">
            <a:alphaModFix/>
          </a:blip>
          <a:srcRect b="0" l="0" r="0" t="0"/>
          <a:stretch/>
        </p:blipFill>
        <p:spPr>
          <a:xfrm>
            <a:off x="644652" y="1954530"/>
            <a:ext cx="3672459" cy="240856"/>
          </a:xfrm>
          <a:prstGeom prst="rect">
            <a:avLst/>
          </a:prstGeom>
          <a:noFill/>
          <a:ln>
            <a:noFill/>
          </a:ln>
        </p:spPr>
      </p:pic>
      <p:pic>
        <p:nvPicPr>
          <p:cNvPr descr="ar1.png" id="426" name="Google Shape;426;p33"/>
          <p:cNvPicPr preferRelativeResize="0"/>
          <p:nvPr/>
        </p:nvPicPr>
        <p:blipFill rotWithShape="1">
          <a:blip r:embed="rId4">
            <a:alphaModFix/>
          </a:blip>
          <a:srcRect b="0" l="0" r="0" t="0"/>
          <a:stretch/>
        </p:blipFill>
        <p:spPr>
          <a:xfrm>
            <a:off x="644652" y="2242566"/>
            <a:ext cx="2693768" cy="246888"/>
          </a:xfrm>
          <a:prstGeom prst="rect">
            <a:avLst/>
          </a:prstGeom>
          <a:noFill/>
          <a:ln>
            <a:noFill/>
          </a:ln>
        </p:spPr>
      </p:pic>
      <p:pic>
        <p:nvPicPr>
          <p:cNvPr descr="ar2.png" id="427" name="Google Shape;427;p33"/>
          <p:cNvPicPr preferRelativeResize="0"/>
          <p:nvPr/>
        </p:nvPicPr>
        <p:blipFill rotWithShape="1">
          <a:blip r:embed="rId5">
            <a:alphaModFix/>
          </a:blip>
          <a:srcRect b="0" l="0" r="0" t="0"/>
          <a:stretch/>
        </p:blipFill>
        <p:spPr>
          <a:xfrm>
            <a:off x="644652" y="2530602"/>
            <a:ext cx="2695073" cy="548640"/>
          </a:xfrm>
          <a:prstGeom prst="rect">
            <a:avLst/>
          </a:prstGeom>
          <a:noFill/>
          <a:ln>
            <a:noFill/>
          </a:ln>
        </p:spPr>
      </p:pic>
      <p:sp>
        <p:nvSpPr>
          <p:cNvPr id="428" name="Google Shape;428;p33"/>
          <p:cNvSpPr txBox="1"/>
          <p:nvPr/>
        </p:nvSpPr>
        <p:spPr>
          <a:xfrm>
            <a:off x="644652" y="3134106"/>
            <a:ext cx="3672459"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1" lang="en" sz="800" u="none" cap="none" strike="noStrike">
                <a:solidFill>
                  <a:srgbClr val="5F5C5C"/>
                </a:solidFill>
                <a:latin typeface="Calibri"/>
                <a:ea typeface="Calibri"/>
                <a:cs typeface="Calibri"/>
                <a:sym typeface="Calibri"/>
              </a:rPr>
              <a:t>pairs are used only when both days have at least one detection</a:t>
            </a:r>
            <a:endParaRPr sz="1100"/>
          </a:p>
        </p:txBody>
      </p:sp>
      <p:pic>
        <p:nvPicPr>
          <p:cNvPr descr="ar.png" id="429" name="Google Shape;429;p33"/>
          <p:cNvPicPr preferRelativeResize="0"/>
          <p:nvPr/>
        </p:nvPicPr>
        <p:blipFill rotWithShape="1">
          <a:blip r:embed="rId6">
            <a:alphaModFix/>
          </a:blip>
          <a:srcRect b="0" l="0" r="0" t="0"/>
          <a:stretch/>
        </p:blipFill>
        <p:spPr>
          <a:xfrm>
            <a:off x="699516" y="3257550"/>
            <a:ext cx="2743200" cy="1028700"/>
          </a:xfrm>
          <a:prstGeom prst="rect">
            <a:avLst/>
          </a:prstGeom>
          <a:noFill/>
          <a:ln>
            <a:noFill/>
          </a:ln>
        </p:spPr>
      </p:pic>
      <p:sp>
        <p:nvSpPr>
          <p:cNvPr id="430" name="Google Shape;430;p33"/>
          <p:cNvSpPr/>
          <p:nvPr/>
        </p:nvSpPr>
        <p:spPr>
          <a:xfrm>
            <a:off x="4673727" y="1337310"/>
            <a:ext cx="3974211" cy="2983229"/>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1" name="Google Shape;431;p33"/>
          <p:cNvSpPr txBox="1"/>
          <p:nvPr/>
        </p:nvSpPr>
        <p:spPr>
          <a:xfrm>
            <a:off x="4824603" y="1426464"/>
            <a:ext cx="3672459"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3333B2"/>
                </a:solidFill>
                <a:latin typeface="Calibri"/>
                <a:ea typeface="Calibri"/>
                <a:cs typeface="Calibri"/>
                <a:sym typeface="Calibri"/>
              </a:rPr>
              <a:t>Habitat Affinity  HA</a:t>
            </a:r>
            <a:endParaRPr sz="1100"/>
          </a:p>
        </p:txBody>
      </p:sp>
      <p:sp>
        <p:nvSpPr>
          <p:cNvPr id="432" name="Google Shape;432;p33"/>
          <p:cNvSpPr txBox="1"/>
          <p:nvPr/>
        </p:nvSpPr>
        <p:spPr>
          <a:xfrm>
            <a:off x="4824603" y="1680210"/>
            <a:ext cx="3672459"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Does a species keep to the same sites from one day to the next?</a:t>
            </a:r>
            <a:endParaRPr sz="1100"/>
          </a:p>
        </p:txBody>
      </p:sp>
      <p:pic>
        <p:nvPicPr>
          <p:cNvPr descr="ha0.png" id="433" name="Google Shape;433;p33"/>
          <p:cNvPicPr preferRelativeResize="0"/>
          <p:nvPr/>
        </p:nvPicPr>
        <p:blipFill rotWithShape="1">
          <a:blip r:embed="rId7">
            <a:alphaModFix/>
          </a:blip>
          <a:srcRect b="0" l="0" r="0" t="0"/>
          <a:stretch/>
        </p:blipFill>
        <p:spPr>
          <a:xfrm>
            <a:off x="4824603" y="1954530"/>
            <a:ext cx="3672459" cy="234165"/>
          </a:xfrm>
          <a:prstGeom prst="rect">
            <a:avLst/>
          </a:prstGeom>
          <a:noFill/>
          <a:ln>
            <a:noFill/>
          </a:ln>
        </p:spPr>
      </p:pic>
      <p:pic>
        <p:nvPicPr>
          <p:cNvPr descr="ha1.png" id="434" name="Google Shape;434;p33"/>
          <p:cNvPicPr preferRelativeResize="0"/>
          <p:nvPr/>
        </p:nvPicPr>
        <p:blipFill rotWithShape="1">
          <a:blip r:embed="rId8">
            <a:alphaModFix/>
          </a:blip>
          <a:srcRect b="0" l="0" r="0" t="0"/>
          <a:stretch/>
        </p:blipFill>
        <p:spPr>
          <a:xfrm>
            <a:off x="4824603" y="2242566"/>
            <a:ext cx="2552042" cy="246888"/>
          </a:xfrm>
          <a:prstGeom prst="rect">
            <a:avLst/>
          </a:prstGeom>
          <a:noFill/>
          <a:ln>
            <a:noFill/>
          </a:ln>
        </p:spPr>
      </p:pic>
      <p:pic>
        <p:nvPicPr>
          <p:cNvPr descr="ha2.png" id="435" name="Google Shape;435;p33"/>
          <p:cNvPicPr preferRelativeResize="0"/>
          <p:nvPr/>
        </p:nvPicPr>
        <p:blipFill rotWithShape="1">
          <a:blip r:embed="rId9">
            <a:alphaModFix/>
          </a:blip>
          <a:srcRect b="0" l="0" r="0" t="0"/>
          <a:stretch/>
        </p:blipFill>
        <p:spPr>
          <a:xfrm>
            <a:off x="4824603" y="2530602"/>
            <a:ext cx="1376824" cy="548640"/>
          </a:xfrm>
          <a:prstGeom prst="rect">
            <a:avLst/>
          </a:prstGeom>
          <a:noFill/>
          <a:ln>
            <a:noFill/>
          </a:ln>
        </p:spPr>
      </p:pic>
      <p:sp>
        <p:nvSpPr>
          <p:cNvPr id="436" name="Google Shape;436;p33"/>
          <p:cNvSpPr txBox="1"/>
          <p:nvPr/>
        </p:nvSpPr>
        <p:spPr>
          <a:xfrm>
            <a:off x="4824603" y="3134106"/>
            <a:ext cx="3672459"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1" lang="en" sz="800" u="none" cap="none" strike="noStrike">
                <a:solidFill>
                  <a:srgbClr val="5F5C5C"/>
                </a:solidFill>
                <a:latin typeface="Calibri"/>
                <a:ea typeface="Calibri"/>
                <a:cs typeface="Calibri"/>
                <a:sym typeface="Calibri"/>
              </a:rPr>
              <a:t>pairs are used only when both days vary across sites</a:t>
            </a:r>
            <a:endParaRPr sz="1100"/>
          </a:p>
        </p:txBody>
      </p:sp>
      <p:pic>
        <p:nvPicPr>
          <p:cNvPr descr="ha.png" id="437" name="Google Shape;437;p33"/>
          <p:cNvPicPr preferRelativeResize="0"/>
          <p:nvPr/>
        </p:nvPicPr>
        <p:blipFill rotWithShape="1">
          <a:blip r:embed="rId10">
            <a:alphaModFix/>
          </a:blip>
          <a:srcRect b="0" l="0" r="0" t="0"/>
          <a:stretch/>
        </p:blipFill>
        <p:spPr>
          <a:xfrm>
            <a:off x="4879467" y="3257550"/>
            <a:ext cx="2743200" cy="1028700"/>
          </a:xfrm>
          <a:prstGeom prst="rect">
            <a:avLst/>
          </a:prstGeom>
          <a:noFill/>
          <a:ln>
            <a:noFill/>
          </a:ln>
        </p:spPr>
      </p:pic>
      <p:sp>
        <p:nvSpPr>
          <p:cNvPr id="438" name="Google Shape;438;p33"/>
          <p:cNvSpPr txBox="1"/>
          <p:nvPr/>
        </p:nvSpPr>
        <p:spPr>
          <a:xfrm>
            <a:off x="493776" y="4389120"/>
            <a:ext cx="8154162"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Both on the quality-filtered dataset. High values mean stable, predictable behaviour, a signature of resource-rich habitat.</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4"/>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5" name="Google Shape;445;p34"/>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6" name="Google Shape;446;p34"/>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Migratory classification</a:t>
            </a:r>
            <a:endParaRPr sz="1100"/>
          </a:p>
        </p:txBody>
      </p:sp>
      <p:sp>
        <p:nvSpPr>
          <p:cNvPr id="447" name="Google Shape;447;p34"/>
          <p:cNvSpPr/>
          <p:nvPr/>
        </p:nvSpPr>
        <p:spPr>
          <a:xfrm>
            <a:off x="493776"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8" name="Google Shape;448;p34"/>
          <p:cNvSpPr txBox="1"/>
          <p:nvPr/>
        </p:nvSpPr>
        <p:spPr>
          <a:xfrm>
            <a:off x="493776"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1  Record</a:t>
            </a:r>
            <a:endParaRPr sz="1100"/>
          </a:p>
        </p:txBody>
      </p:sp>
      <p:sp>
        <p:nvSpPr>
          <p:cNvPr id="449" name="Google Shape;449;p34"/>
          <p:cNvSpPr/>
          <p:nvPr/>
        </p:nvSpPr>
        <p:spPr>
          <a:xfrm>
            <a:off x="2056714"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0" name="Google Shape;450;p34"/>
          <p:cNvSpPr/>
          <p:nvPr/>
        </p:nvSpPr>
        <p:spPr>
          <a:xfrm>
            <a:off x="2149297"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1" name="Google Shape;451;p34"/>
          <p:cNvSpPr txBox="1"/>
          <p:nvPr/>
        </p:nvSpPr>
        <p:spPr>
          <a:xfrm>
            <a:off x="2149297"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2  Pre-process</a:t>
            </a:r>
            <a:endParaRPr sz="1100"/>
          </a:p>
        </p:txBody>
      </p:sp>
      <p:sp>
        <p:nvSpPr>
          <p:cNvPr id="452" name="Google Shape;452;p34"/>
          <p:cNvSpPr/>
          <p:nvPr/>
        </p:nvSpPr>
        <p:spPr>
          <a:xfrm>
            <a:off x="371223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3" name="Google Shape;453;p34"/>
          <p:cNvSpPr/>
          <p:nvPr/>
        </p:nvSpPr>
        <p:spPr>
          <a:xfrm>
            <a:off x="380481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4" name="Google Shape;454;p34"/>
          <p:cNvSpPr txBox="1"/>
          <p:nvPr/>
        </p:nvSpPr>
        <p:spPr>
          <a:xfrm>
            <a:off x="380481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3  Detect</a:t>
            </a:r>
            <a:endParaRPr sz="1100"/>
          </a:p>
        </p:txBody>
      </p:sp>
      <p:sp>
        <p:nvSpPr>
          <p:cNvPr id="455" name="Google Shape;455;p34"/>
          <p:cNvSpPr/>
          <p:nvPr/>
        </p:nvSpPr>
        <p:spPr>
          <a:xfrm>
            <a:off x="536775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6" name="Google Shape;456;p34"/>
          <p:cNvSpPr/>
          <p:nvPr/>
        </p:nvSpPr>
        <p:spPr>
          <a:xfrm>
            <a:off x="546033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7" name="Google Shape;457;p34"/>
          <p:cNvSpPr txBox="1"/>
          <p:nvPr/>
        </p:nvSpPr>
        <p:spPr>
          <a:xfrm>
            <a:off x="546033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4  Filter</a:t>
            </a:r>
            <a:endParaRPr sz="1100"/>
          </a:p>
        </p:txBody>
      </p:sp>
      <p:sp>
        <p:nvSpPr>
          <p:cNvPr id="458" name="Google Shape;458;p34"/>
          <p:cNvSpPr/>
          <p:nvPr/>
        </p:nvSpPr>
        <p:spPr>
          <a:xfrm>
            <a:off x="7023276"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9" name="Google Shape;459;p34"/>
          <p:cNvSpPr/>
          <p:nvPr/>
        </p:nvSpPr>
        <p:spPr>
          <a:xfrm>
            <a:off x="7115859" y="651510"/>
            <a:ext cx="1532077" cy="288036"/>
          </a:xfrm>
          <a:prstGeom prst="roundRect">
            <a:avLst>
              <a:gd fmla="val 30000" name="adj"/>
            </a:avLst>
          </a:prstGeom>
          <a:solidFill>
            <a:srgbClr val="3333B2"/>
          </a:solidFill>
          <a:ln cap="flat" cmpd="sng" w="12700">
            <a:solidFill>
              <a:srgbClr val="3333B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0" name="Google Shape;460;p34"/>
          <p:cNvSpPr txBox="1"/>
          <p:nvPr/>
        </p:nvSpPr>
        <p:spPr>
          <a:xfrm>
            <a:off x="7115859"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1" i="0" lang="en" sz="1000" u="none" cap="none" strike="noStrike">
                <a:solidFill>
                  <a:srgbClr val="FFFFFF"/>
                </a:solidFill>
                <a:latin typeface="Calibri"/>
                <a:ea typeface="Calibri"/>
                <a:cs typeface="Calibri"/>
                <a:sym typeface="Calibri"/>
              </a:rPr>
              <a:t>5  Analyse</a:t>
            </a:r>
            <a:endParaRPr sz="1100"/>
          </a:p>
        </p:txBody>
      </p:sp>
      <p:sp>
        <p:nvSpPr>
          <p:cNvPr id="461" name="Google Shape;461;p34"/>
          <p:cNvSpPr txBox="1"/>
          <p:nvPr/>
        </p:nvSpPr>
        <p:spPr>
          <a:xfrm>
            <a:off x="493776" y="1028700"/>
            <a:ext cx="356616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272525"/>
                </a:solidFill>
                <a:latin typeface="Calibri"/>
                <a:ea typeface="Calibri"/>
                <a:cs typeface="Calibri"/>
                <a:sym typeface="Calibri"/>
              </a:rPr>
              <a:t>Three complementary views of the daily series</a:t>
            </a:r>
            <a:endParaRPr sz="1100"/>
          </a:p>
        </p:txBody>
      </p:sp>
      <p:pic>
        <p:nvPicPr>
          <p:cNvPr descr="csk.png" id="462" name="Google Shape;462;p34"/>
          <p:cNvPicPr preferRelativeResize="0"/>
          <p:nvPr/>
        </p:nvPicPr>
        <p:blipFill rotWithShape="1">
          <a:blip r:embed="rId3">
            <a:alphaModFix/>
          </a:blip>
          <a:srcRect b="0" l="0" r="0" t="0"/>
          <a:stretch/>
        </p:blipFill>
        <p:spPr>
          <a:xfrm>
            <a:off x="3545586" y="973836"/>
            <a:ext cx="953094" cy="301752"/>
          </a:xfrm>
          <a:prstGeom prst="rect">
            <a:avLst/>
          </a:prstGeom>
          <a:noFill/>
          <a:ln>
            <a:noFill/>
          </a:ln>
        </p:spPr>
      </p:pic>
      <p:sp>
        <p:nvSpPr>
          <p:cNvPr id="463" name="Google Shape;463;p34"/>
          <p:cNvSpPr txBox="1"/>
          <p:nvPr/>
        </p:nvSpPr>
        <p:spPr>
          <a:xfrm>
            <a:off x="5122926" y="1028700"/>
            <a:ext cx="342900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272525"/>
                </a:solidFill>
                <a:latin typeface="Calibri"/>
                <a:ea typeface="Calibri"/>
                <a:cs typeface="Calibri"/>
                <a:sym typeface="Calibri"/>
              </a:rPr>
              <a:t>on the temporally filtered dataset.</a:t>
            </a:r>
            <a:endParaRPr sz="1100"/>
          </a:p>
        </p:txBody>
      </p:sp>
      <p:sp>
        <p:nvSpPr>
          <p:cNvPr id="464" name="Google Shape;464;p34"/>
          <p:cNvSpPr/>
          <p:nvPr/>
        </p:nvSpPr>
        <p:spPr>
          <a:xfrm>
            <a:off x="493776" y="1337310"/>
            <a:ext cx="2603754" cy="192024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5" name="Google Shape;465;p34"/>
          <p:cNvSpPr txBox="1"/>
          <p:nvPr/>
        </p:nvSpPr>
        <p:spPr>
          <a:xfrm>
            <a:off x="630936" y="1426464"/>
            <a:ext cx="68580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SCI</a:t>
            </a:r>
            <a:endParaRPr sz="1100"/>
          </a:p>
        </p:txBody>
      </p:sp>
      <p:sp>
        <p:nvSpPr>
          <p:cNvPr id="466" name="Google Shape;466;p34"/>
          <p:cNvSpPr txBox="1"/>
          <p:nvPr/>
        </p:nvSpPr>
        <p:spPr>
          <a:xfrm>
            <a:off x="1179576" y="1467612"/>
            <a:ext cx="1780794"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Seasonal Concentration Index</a:t>
            </a:r>
            <a:endParaRPr sz="1100"/>
          </a:p>
        </p:txBody>
      </p:sp>
      <p:pic>
        <p:nvPicPr>
          <p:cNvPr descr="scia.png" id="467" name="Google Shape;467;p34"/>
          <p:cNvPicPr preferRelativeResize="0"/>
          <p:nvPr/>
        </p:nvPicPr>
        <p:blipFill rotWithShape="1">
          <a:blip r:embed="rId4">
            <a:alphaModFix/>
          </a:blip>
          <a:srcRect b="0" l="0" r="0" t="0"/>
          <a:stretch/>
        </p:blipFill>
        <p:spPr>
          <a:xfrm>
            <a:off x="630936" y="1714500"/>
            <a:ext cx="1068115" cy="493776"/>
          </a:xfrm>
          <a:prstGeom prst="rect">
            <a:avLst/>
          </a:prstGeom>
          <a:noFill/>
          <a:ln>
            <a:noFill/>
          </a:ln>
        </p:spPr>
      </p:pic>
      <p:pic>
        <p:nvPicPr>
          <p:cNvPr descr="scib.png" id="468" name="Google Shape;468;p34"/>
          <p:cNvPicPr preferRelativeResize="0"/>
          <p:nvPr/>
        </p:nvPicPr>
        <p:blipFill rotWithShape="1">
          <a:blip r:embed="rId5">
            <a:alphaModFix/>
          </a:blip>
          <a:srcRect b="0" l="0" r="0" t="0"/>
          <a:stretch/>
        </p:blipFill>
        <p:spPr>
          <a:xfrm>
            <a:off x="630936" y="2263140"/>
            <a:ext cx="984259" cy="288036"/>
          </a:xfrm>
          <a:prstGeom prst="rect">
            <a:avLst/>
          </a:prstGeom>
          <a:noFill/>
          <a:ln>
            <a:noFill/>
          </a:ln>
        </p:spPr>
      </p:pic>
      <p:sp>
        <p:nvSpPr>
          <p:cNvPr id="469" name="Google Shape;469;p34"/>
          <p:cNvSpPr txBox="1"/>
          <p:nvPr/>
        </p:nvSpPr>
        <p:spPr>
          <a:xfrm>
            <a:off x="630936" y="2640330"/>
            <a:ext cx="2329434" cy="5829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share of all detections inside the busiest 60-day window. Near 1 = migrant-like.</a:t>
            </a:r>
            <a:endParaRPr sz="1100"/>
          </a:p>
        </p:txBody>
      </p:sp>
      <p:sp>
        <p:nvSpPr>
          <p:cNvPr id="470" name="Google Shape;470;p34"/>
          <p:cNvSpPr/>
          <p:nvPr/>
        </p:nvSpPr>
        <p:spPr>
          <a:xfrm>
            <a:off x="3268980" y="1337310"/>
            <a:ext cx="2603754" cy="192024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1" name="Google Shape;471;p34"/>
          <p:cNvSpPr txBox="1"/>
          <p:nvPr/>
        </p:nvSpPr>
        <p:spPr>
          <a:xfrm>
            <a:off x="3406140" y="1426464"/>
            <a:ext cx="68580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K</a:t>
            </a:r>
            <a:endParaRPr sz="1100"/>
          </a:p>
        </p:txBody>
      </p:sp>
      <p:sp>
        <p:nvSpPr>
          <p:cNvPr id="472" name="Google Shape;472;p34"/>
          <p:cNvSpPr txBox="1"/>
          <p:nvPr/>
        </p:nvSpPr>
        <p:spPr>
          <a:xfrm>
            <a:off x="3954780" y="1467612"/>
            <a:ext cx="1780794"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Residual kurtosis</a:t>
            </a:r>
            <a:endParaRPr sz="1100"/>
          </a:p>
        </p:txBody>
      </p:sp>
      <p:pic>
        <p:nvPicPr>
          <p:cNvPr descr="kurta.png" id="473" name="Google Shape;473;p34"/>
          <p:cNvPicPr preferRelativeResize="0"/>
          <p:nvPr/>
        </p:nvPicPr>
        <p:blipFill rotWithShape="1">
          <a:blip r:embed="rId6">
            <a:alphaModFix/>
          </a:blip>
          <a:srcRect b="0" l="0" r="0" t="0"/>
          <a:stretch/>
        </p:blipFill>
        <p:spPr>
          <a:xfrm>
            <a:off x="3406140" y="1714500"/>
            <a:ext cx="1227385" cy="493776"/>
          </a:xfrm>
          <a:prstGeom prst="rect">
            <a:avLst/>
          </a:prstGeom>
          <a:noFill/>
          <a:ln>
            <a:noFill/>
          </a:ln>
        </p:spPr>
      </p:pic>
      <p:pic>
        <p:nvPicPr>
          <p:cNvPr descr="kurtb.png" id="474" name="Google Shape;474;p34"/>
          <p:cNvPicPr preferRelativeResize="0"/>
          <p:nvPr/>
        </p:nvPicPr>
        <p:blipFill rotWithShape="1">
          <a:blip r:embed="rId7">
            <a:alphaModFix/>
          </a:blip>
          <a:srcRect b="0" l="0" r="0" t="0"/>
          <a:stretch/>
        </p:blipFill>
        <p:spPr>
          <a:xfrm>
            <a:off x="3406140" y="2263140"/>
            <a:ext cx="2329434" cy="230865"/>
          </a:xfrm>
          <a:prstGeom prst="rect">
            <a:avLst/>
          </a:prstGeom>
          <a:noFill/>
          <a:ln>
            <a:noFill/>
          </a:ln>
        </p:spPr>
      </p:pic>
      <p:sp>
        <p:nvSpPr>
          <p:cNvPr id="475" name="Google Shape;475;p34"/>
          <p:cNvSpPr txBox="1"/>
          <p:nvPr/>
        </p:nvSpPr>
        <p:spPr>
          <a:xfrm>
            <a:off x="3406140" y="2640330"/>
            <a:ext cx="2329434" cy="5829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how peaked the residuals are after removing a linear trend. High = a few days of unusual bursts, like an arrival.</a:t>
            </a:r>
            <a:endParaRPr sz="1100"/>
          </a:p>
        </p:txBody>
      </p:sp>
      <p:sp>
        <p:nvSpPr>
          <p:cNvPr id="476" name="Google Shape;476;p34"/>
          <p:cNvSpPr/>
          <p:nvPr/>
        </p:nvSpPr>
        <p:spPr>
          <a:xfrm>
            <a:off x="6044184" y="1337310"/>
            <a:ext cx="2603754" cy="192024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7" name="Google Shape;477;p34"/>
          <p:cNvSpPr txBox="1"/>
          <p:nvPr/>
        </p:nvSpPr>
        <p:spPr>
          <a:xfrm>
            <a:off x="6181344" y="1426464"/>
            <a:ext cx="68580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500" u="none" cap="none" strike="noStrike">
                <a:solidFill>
                  <a:srgbClr val="3333B2"/>
                </a:solidFill>
                <a:latin typeface="Calibri"/>
                <a:ea typeface="Calibri"/>
                <a:cs typeface="Calibri"/>
                <a:sym typeface="Calibri"/>
              </a:rPr>
              <a:t>PMR</a:t>
            </a:r>
            <a:endParaRPr sz="1100"/>
          </a:p>
        </p:txBody>
      </p:sp>
      <p:sp>
        <p:nvSpPr>
          <p:cNvPr id="478" name="Google Shape;478;p34"/>
          <p:cNvSpPr txBox="1"/>
          <p:nvPr/>
        </p:nvSpPr>
        <p:spPr>
          <a:xfrm>
            <a:off x="6729984" y="1467612"/>
            <a:ext cx="1780794" cy="2400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Peak-to-Median Ratio</a:t>
            </a:r>
            <a:endParaRPr sz="1100"/>
          </a:p>
        </p:txBody>
      </p:sp>
      <p:pic>
        <p:nvPicPr>
          <p:cNvPr descr="pmra.png" id="479" name="Google Shape;479;p34"/>
          <p:cNvPicPr preferRelativeResize="0"/>
          <p:nvPr/>
        </p:nvPicPr>
        <p:blipFill rotWithShape="1">
          <a:blip r:embed="rId8">
            <a:alphaModFix/>
          </a:blip>
          <a:srcRect b="0" l="0" r="0" t="0"/>
          <a:stretch/>
        </p:blipFill>
        <p:spPr>
          <a:xfrm>
            <a:off x="6181344" y="1714500"/>
            <a:ext cx="1698021" cy="493776"/>
          </a:xfrm>
          <a:prstGeom prst="rect">
            <a:avLst/>
          </a:prstGeom>
          <a:noFill/>
          <a:ln>
            <a:noFill/>
          </a:ln>
        </p:spPr>
      </p:pic>
      <p:pic>
        <p:nvPicPr>
          <p:cNvPr descr="pmrb.png" id="480" name="Google Shape;480;p34"/>
          <p:cNvPicPr preferRelativeResize="0"/>
          <p:nvPr/>
        </p:nvPicPr>
        <p:blipFill rotWithShape="1">
          <a:blip r:embed="rId9">
            <a:alphaModFix/>
          </a:blip>
          <a:srcRect b="0" l="0" r="0" t="0"/>
          <a:stretch/>
        </p:blipFill>
        <p:spPr>
          <a:xfrm>
            <a:off x="6181344" y="2263140"/>
            <a:ext cx="2329434" cy="231035"/>
          </a:xfrm>
          <a:prstGeom prst="rect">
            <a:avLst/>
          </a:prstGeom>
          <a:noFill/>
          <a:ln>
            <a:noFill/>
          </a:ln>
        </p:spPr>
      </p:pic>
      <p:sp>
        <p:nvSpPr>
          <p:cNvPr id="481" name="Google Shape;481;p34"/>
          <p:cNvSpPr txBox="1"/>
          <p:nvPr/>
        </p:nvSpPr>
        <p:spPr>
          <a:xfrm>
            <a:off x="6181344" y="2640330"/>
            <a:ext cx="2329434" cy="58293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the busiest day against a typical day. Large = extreme spikes relative to normal activity.</a:t>
            </a:r>
            <a:endParaRPr sz="1100"/>
          </a:p>
        </p:txBody>
      </p:sp>
      <p:sp>
        <p:nvSpPr>
          <p:cNvPr id="482" name="Google Shape;482;p34"/>
          <p:cNvSpPr/>
          <p:nvPr/>
        </p:nvSpPr>
        <p:spPr>
          <a:xfrm>
            <a:off x="493776" y="3326130"/>
            <a:ext cx="3840480" cy="102870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3" name="Google Shape;483;p34"/>
          <p:cNvSpPr txBox="1"/>
          <p:nvPr/>
        </p:nvSpPr>
        <p:spPr>
          <a:xfrm>
            <a:off x="644652" y="3394710"/>
            <a:ext cx="356616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3333B2"/>
                </a:solidFill>
                <a:latin typeface="Calibri"/>
                <a:ea typeface="Calibri"/>
                <a:cs typeface="Calibri"/>
                <a:sym typeface="Calibri"/>
              </a:rPr>
              <a:t>Decision rule</a:t>
            </a:r>
            <a:endParaRPr sz="1100"/>
          </a:p>
        </p:txBody>
      </p:sp>
      <p:pic>
        <p:nvPicPr>
          <p:cNvPr descr="rule.png" id="484" name="Google Shape;484;p34"/>
          <p:cNvPicPr preferRelativeResize="0"/>
          <p:nvPr/>
        </p:nvPicPr>
        <p:blipFill rotWithShape="1">
          <a:blip r:embed="rId10">
            <a:alphaModFix/>
          </a:blip>
          <a:srcRect b="0" l="0" r="0" t="0"/>
          <a:stretch/>
        </p:blipFill>
        <p:spPr>
          <a:xfrm>
            <a:off x="644652" y="3669030"/>
            <a:ext cx="3566160" cy="207053"/>
          </a:xfrm>
          <a:prstGeom prst="rect">
            <a:avLst/>
          </a:prstGeom>
          <a:noFill/>
          <a:ln>
            <a:noFill/>
          </a:ln>
        </p:spPr>
      </p:pic>
      <p:sp>
        <p:nvSpPr>
          <p:cNvPr id="485" name="Google Shape;485;p34"/>
          <p:cNvSpPr txBox="1"/>
          <p:nvPr/>
        </p:nvSpPr>
        <p:spPr>
          <a:xfrm>
            <a:off x="644652" y="3977640"/>
            <a:ext cx="3566160" cy="37719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Thresholds set by inspecting species with known migratory behaviour, so that the criteria separate the two groups cleanly. Everything else is resident.</a:t>
            </a:r>
            <a:endParaRPr sz="1100"/>
          </a:p>
        </p:txBody>
      </p:sp>
      <p:pic>
        <p:nvPicPr>
          <p:cNvPr descr="migr.png" id="486" name="Google Shape;486;p34"/>
          <p:cNvPicPr preferRelativeResize="0"/>
          <p:nvPr/>
        </p:nvPicPr>
        <p:blipFill rotWithShape="1">
          <a:blip r:embed="rId11">
            <a:alphaModFix/>
          </a:blip>
          <a:srcRect b="0" l="0" r="0" t="0"/>
          <a:stretch/>
        </p:blipFill>
        <p:spPr>
          <a:xfrm>
            <a:off x="4526280" y="3326130"/>
            <a:ext cx="2880360" cy="1028700"/>
          </a:xfrm>
          <a:prstGeom prst="rect">
            <a:avLst/>
          </a:prstGeom>
          <a:noFill/>
          <a:ln>
            <a:noFill/>
          </a:ln>
        </p:spPr>
      </p:pic>
      <p:sp>
        <p:nvSpPr>
          <p:cNvPr id="487" name="Google Shape;487;p34"/>
          <p:cNvSpPr txBox="1"/>
          <p:nvPr/>
        </p:nvSpPr>
        <p:spPr>
          <a:xfrm>
            <a:off x="493776" y="4423410"/>
            <a:ext cx="8154162"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900" u="none" cap="none" strike="noStrike">
                <a:solidFill>
                  <a:srgbClr val="272525"/>
                </a:solidFill>
                <a:latin typeface="Calibri"/>
                <a:ea typeface="Calibri"/>
                <a:cs typeface="Calibri"/>
                <a:sym typeface="Calibri"/>
              </a:rPr>
              <a:t>The silent resident.  </a:t>
            </a:r>
            <a:r>
              <a:rPr b="0" i="0" lang="en" sz="900" u="none" cap="none" strike="noStrike">
                <a:solidFill>
                  <a:srgbClr val="5F5C5C"/>
                </a:solidFill>
                <a:latin typeface="Calibri"/>
                <a:ea typeface="Calibri"/>
                <a:cs typeface="Calibri"/>
                <a:sym typeface="Calibri"/>
              </a:rPr>
              <a:t>Coppersmith Barbet scored SCI = 0.97 because it only calls in May. eBird sightings showed it present but silent: a call-to-sighting check is needed before calling anything a migrant.</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35"/>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94" name="Google Shape;494;p35"/>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95" name="Google Shape;495;p35"/>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Solar alignment: do birds follow the light?</a:t>
            </a:r>
            <a:endParaRPr sz="1100"/>
          </a:p>
        </p:txBody>
      </p:sp>
      <p:sp>
        <p:nvSpPr>
          <p:cNvPr id="496" name="Google Shape;496;p35"/>
          <p:cNvSpPr/>
          <p:nvPr/>
        </p:nvSpPr>
        <p:spPr>
          <a:xfrm>
            <a:off x="493776"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97" name="Google Shape;497;p35"/>
          <p:cNvSpPr txBox="1"/>
          <p:nvPr/>
        </p:nvSpPr>
        <p:spPr>
          <a:xfrm>
            <a:off x="493776"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1  Record</a:t>
            </a:r>
            <a:endParaRPr sz="1100"/>
          </a:p>
        </p:txBody>
      </p:sp>
      <p:sp>
        <p:nvSpPr>
          <p:cNvPr id="498" name="Google Shape;498;p35"/>
          <p:cNvSpPr/>
          <p:nvPr/>
        </p:nvSpPr>
        <p:spPr>
          <a:xfrm>
            <a:off x="2056714"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99" name="Google Shape;499;p35"/>
          <p:cNvSpPr/>
          <p:nvPr/>
        </p:nvSpPr>
        <p:spPr>
          <a:xfrm>
            <a:off x="2149297"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0" name="Google Shape;500;p35"/>
          <p:cNvSpPr txBox="1"/>
          <p:nvPr/>
        </p:nvSpPr>
        <p:spPr>
          <a:xfrm>
            <a:off x="2149297"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2  Pre-process</a:t>
            </a:r>
            <a:endParaRPr sz="1100"/>
          </a:p>
        </p:txBody>
      </p:sp>
      <p:sp>
        <p:nvSpPr>
          <p:cNvPr id="501" name="Google Shape;501;p35"/>
          <p:cNvSpPr/>
          <p:nvPr/>
        </p:nvSpPr>
        <p:spPr>
          <a:xfrm>
            <a:off x="371223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2" name="Google Shape;502;p35"/>
          <p:cNvSpPr/>
          <p:nvPr/>
        </p:nvSpPr>
        <p:spPr>
          <a:xfrm>
            <a:off x="380481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3" name="Google Shape;503;p35"/>
          <p:cNvSpPr txBox="1"/>
          <p:nvPr/>
        </p:nvSpPr>
        <p:spPr>
          <a:xfrm>
            <a:off x="380481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3  Detect</a:t>
            </a:r>
            <a:endParaRPr sz="1100"/>
          </a:p>
        </p:txBody>
      </p:sp>
      <p:sp>
        <p:nvSpPr>
          <p:cNvPr id="504" name="Google Shape;504;p35"/>
          <p:cNvSpPr/>
          <p:nvPr/>
        </p:nvSpPr>
        <p:spPr>
          <a:xfrm>
            <a:off x="5367755"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5" name="Google Shape;505;p35"/>
          <p:cNvSpPr/>
          <p:nvPr/>
        </p:nvSpPr>
        <p:spPr>
          <a:xfrm>
            <a:off x="5460338" y="651510"/>
            <a:ext cx="1532077" cy="288036"/>
          </a:xfrm>
          <a:prstGeom prst="roundRect">
            <a:avLst>
              <a:gd fmla="val 30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6" name="Google Shape;506;p35"/>
          <p:cNvSpPr txBox="1"/>
          <p:nvPr/>
        </p:nvSpPr>
        <p:spPr>
          <a:xfrm>
            <a:off x="5460338"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4  Filter</a:t>
            </a:r>
            <a:endParaRPr sz="1100"/>
          </a:p>
        </p:txBody>
      </p:sp>
      <p:sp>
        <p:nvSpPr>
          <p:cNvPr id="507" name="Google Shape;507;p35"/>
          <p:cNvSpPr/>
          <p:nvPr/>
        </p:nvSpPr>
        <p:spPr>
          <a:xfrm>
            <a:off x="7023276" y="740664"/>
            <a:ext cx="61722" cy="109728"/>
          </a:xfrm>
          <a:prstGeom prst="chevron">
            <a:avLst>
              <a:gd fmla="val 50000" name="adj"/>
            </a:avLst>
          </a:prstGeom>
          <a:solidFill>
            <a:srgbClr val="C5C5E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8" name="Google Shape;508;p35"/>
          <p:cNvSpPr/>
          <p:nvPr/>
        </p:nvSpPr>
        <p:spPr>
          <a:xfrm>
            <a:off x="7115859" y="651510"/>
            <a:ext cx="1532077" cy="288036"/>
          </a:xfrm>
          <a:prstGeom prst="roundRect">
            <a:avLst>
              <a:gd fmla="val 30000" name="adj"/>
            </a:avLst>
          </a:prstGeom>
          <a:solidFill>
            <a:srgbClr val="3333B2"/>
          </a:solidFill>
          <a:ln cap="flat" cmpd="sng" w="12700">
            <a:solidFill>
              <a:srgbClr val="3333B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9" name="Google Shape;509;p35"/>
          <p:cNvSpPr txBox="1"/>
          <p:nvPr/>
        </p:nvSpPr>
        <p:spPr>
          <a:xfrm>
            <a:off x="7115859" y="651510"/>
            <a:ext cx="1532077" cy="288036"/>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1" i="0" lang="en" sz="1000" u="none" cap="none" strike="noStrike">
                <a:solidFill>
                  <a:srgbClr val="FFFFFF"/>
                </a:solidFill>
                <a:latin typeface="Calibri"/>
                <a:ea typeface="Calibri"/>
                <a:cs typeface="Calibri"/>
                <a:sym typeface="Calibri"/>
              </a:rPr>
              <a:t>5  Analyse</a:t>
            </a:r>
            <a:endParaRPr sz="1100"/>
          </a:p>
        </p:txBody>
      </p:sp>
      <p:sp>
        <p:nvSpPr>
          <p:cNvPr id="510" name="Google Shape;510;p35"/>
          <p:cNvSpPr txBox="1"/>
          <p:nvPr/>
        </p:nvSpPr>
        <p:spPr>
          <a:xfrm>
            <a:off x="493776" y="1028700"/>
            <a:ext cx="8154162"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100" u="none" cap="none" strike="noStrike">
                <a:solidFill>
                  <a:srgbClr val="272525"/>
                </a:solidFill>
                <a:latin typeface="Calibri"/>
                <a:ea typeface="Calibri"/>
                <a:cs typeface="Calibri"/>
                <a:sym typeface="Calibri"/>
              </a:rPr>
              <a:t>Correlate each day's peak calling hour with that day's sunrise or sunset, on the temporally filtered dataset.</a:t>
            </a:r>
            <a:endParaRPr sz="1100"/>
          </a:p>
        </p:txBody>
      </p:sp>
      <p:sp>
        <p:nvSpPr>
          <p:cNvPr id="511" name="Google Shape;511;p35"/>
          <p:cNvSpPr txBox="1"/>
          <p:nvPr/>
        </p:nvSpPr>
        <p:spPr>
          <a:xfrm>
            <a:off x="493776" y="1371600"/>
            <a:ext cx="411480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3333B2"/>
                </a:solidFill>
                <a:latin typeface="Calibri"/>
                <a:ea typeface="Calibri"/>
                <a:cs typeface="Calibri"/>
                <a:sym typeface="Calibri"/>
              </a:rPr>
              <a:t>Definitions</a:t>
            </a:r>
            <a:endParaRPr sz="1100"/>
          </a:p>
        </p:txBody>
      </p:sp>
      <p:sp>
        <p:nvSpPr>
          <p:cNvPr id="512" name="Google Shape;512;p35"/>
          <p:cNvSpPr txBox="1"/>
          <p:nvPr/>
        </p:nvSpPr>
        <p:spPr>
          <a:xfrm>
            <a:off x="493776" y="1680210"/>
            <a:ext cx="4114800" cy="2057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Solar events, in decimal hours, from site coordinates (φ, λ):</a:t>
            </a:r>
            <a:endParaRPr sz="1100"/>
          </a:p>
        </p:txBody>
      </p:sp>
      <p:pic>
        <p:nvPicPr>
          <p:cNvPr descr="sr.png" id="513" name="Google Shape;513;p35"/>
          <p:cNvPicPr preferRelativeResize="0"/>
          <p:nvPr/>
        </p:nvPicPr>
        <p:blipFill rotWithShape="1">
          <a:blip r:embed="rId3">
            <a:alphaModFix/>
          </a:blip>
          <a:srcRect b="0" l="0" r="0" t="0"/>
          <a:stretch/>
        </p:blipFill>
        <p:spPr>
          <a:xfrm>
            <a:off x="493776" y="1885950"/>
            <a:ext cx="3901965" cy="342900"/>
          </a:xfrm>
          <a:prstGeom prst="rect">
            <a:avLst/>
          </a:prstGeom>
          <a:noFill/>
          <a:ln>
            <a:noFill/>
          </a:ln>
        </p:spPr>
      </p:pic>
      <p:sp>
        <p:nvSpPr>
          <p:cNvPr id="514" name="Google Shape;514;p35"/>
          <p:cNvSpPr txBox="1"/>
          <p:nvPr/>
        </p:nvSpPr>
        <p:spPr>
          <a:xfrm>
            <a:off x="493776" y="2352294"/>
            <a:ext cx="4114800" cy="2057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Peak hour in each window, H_morning = {5…9}, H_evening = {17…20}:</a:t>
            </a:r>
            <a:endParaRPr sz="1100"/>
          </a:p>
        </p:txBody>
      </p:sp>
      <p:pic>
        <p:nvPicPr>
          <p:cNvPr descr="peak.png" id="515" name="Google Shape;515;p35"/>
          <p:cNvPicPr preferRelativeResize="0"/>
          <p:nvPr/>
        </p:nvPicPr>
        <p:blipFill rotWithShape="1">
          <a:blip r:embed="rId4">
            <a:alphaModFix/>
          </a:blip>
          <a:srcRect b="0" l="0" r="0" t="0"/>
          <a:stretch/>
        </p:blipFill>
        <p:spPr>
          <a:xfrm>
            <a:off x="493776" y="2558034"/>
            <a:ext cx="3493294" cy="342900"/>
          </a:xfrm>
          <a:prstGeom prst="rect">
            <a:avLst/>
          </a:prstGeom>
          <a:noFill/>
          <a:ln>
            <a:noFill/>
          </a:ln>
        </p:spPr>
      </p:pic>
      <p:sp>
        <p:nvSpPr>
          <p:cNvPr id="516" name="Google Shape;516;p35"/>
          <p:cNvSpPr txBox="1"/>
          <p:nvPr/>
        </p:nvSpPr>
        <p:spPr>
          <a:xfrm>
            <a:off x="493776" y="3024378"/>
            <a:ext cx="4114800" cy="2057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Lags, expected to stay constant if light drives the bird:</a:t>
            </a:r>
            <a:endParaRPr sz="1100"/>
          </a:p>
        </p:txBody>
      </p:sp>
      <p:pic>
        <p:nvPicPr>
          <p:cNvPr descr="lag.png" id="517" name="Google Shape;517;p35"/>
          <p:cNvPicPr preferRelativeResize="0"/>
          <p:nvPr/>
        </p:nvPicPr>
        <p:blipFill rotWithShape="1">
          <a:blip r:embed="rId5">
            <a:alphaModFix/>
          </a:blip>
          <a:srcRect b="0" l="0" r="0" t="0"/>
          <a:stretch/>
        </p:blipFill>
        <p:spPr>
          <a:xfrm>
            <a:off x="493776" y="3230118"/>
            <a:ext cx="3517900" cy="342899"/>
          </a:xfrm>
          <a:prstGeom prst="rect">
            <a:avLst/>
          </a:prstGeom>
          <a:noFill/>
          <a:ln>
            <a:noFill/>
          </a:ln>
        </p:spPr>
      </p:pic>
      <p:sp>
        <p:nvSpPr>
          <p:cNvPr id="518" name="Google Shape;518;p35"/>
          <p:cNvSpPr txBox="1"/>
          <p:nvPr/>
        </p:nvSpPr>
        <p:spPr>
          <a:xfrm>
            <a:off x="493776" y="3696462"/>
            <a:ext cx="4114800" cy="2057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900" u="none" cap="none" strike="noStrike">
                <a:solidFill>
                  <a:srgbClr val="5F5C5C"/>
                </a:solidFill>
                <a:latin typeface="Calibri"/>
                <a:ea typeface="Calibri"/>
                <a:cs typeface="Calibri"/>
                <a:sym typeface="Calibri"/>
              </a:rPr>
              <a:t>Correlation over days with a detection in that window:</a:t>
            </a:r>
            <a:endParaRPr sz="1100"/>
          </a:p>
        </p:txBody>
      </p:sp>
      <p:pic>
        <p:nvPicPr>
          <p:cNvPr descr="corr.png" id="519" name="Google Shape;519;p35"/>
          <p:cNvPicPr preferRelativeResize="0"/>
          <p:nvPr/>
        </p:nvPicPr>
        <p:blipFill rotWithShape="1">
          <a:blip r:embed="rId6">
            <a:alphaModFix/>
          </a:blip>
          <a:srcRect b="0" l="0" r="0" t="0"/>
          <a:stretch/>
        </p:blipFill>
        <p:spPr>
          <a:xfrm>
            <a:off x="493776" y="3902202"/>
            <a:ext cx="4114800" cy="239826"/>
          </a:xfrm>
          <a:prstGeom prst="rect">
            <a:avLst/>
          </a:prstGeom>
          <a:noFill/>
          <a:ln>
            <a:noFill/>
          </a:ln>
        </p:spPr>
      </p:pic>
      <p:sp>
        <p:nvSpPr>
          <p:cNvPr id="520" name="Google Shape;520;p35"/>
          <p:cNvSpPr/>
          <p:nvPr/>
        </p:nvSpPr>
        <p:spPr>
          <a:xfrm>
            <a:off x="4869180" y="1371600"/>
            <a:ext cx="3771900" cy="294894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21" name="Google Shape;521;p35"/>
          <p:cNvSpPr txBox="1"/>
          <p:nvPr/>
        </p:nvSpPr>
        <p:spPr>
          <a:xfrm>
            <a:off x="5006340" y="1474470"/>
            <a:ext cx="3497580"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400" u="none" cap="none" strike="noStrike">
                <a:solidFill>
                  <a:srgbClr val="3333B2"/>
                </a:solidFill>
                <a:latin typeface="Calibri"/>
                <a:ea typeface="Calibri"/>
                <a:cs typeface="Calibri"/>
                <a:sym typeface="Calibri"/>
              </a:rPr>
              <a:t>Reading the result</a:t>
            </a:r>
            <a:endParaRPr sz="1100"/>
          </a:p>
        </p:txBody>
      </p:sp>
      <p:pic>
        <p:nvPicPr>
          <p:cNvPr descr="solar.png" id="522" name="Google Shape;522;p35"/>
          <p:cNvPicPr preferRelativeResize="0"/>
          <p:nvPr/>
        </p:nvPicPr>
        <p:blipFill rotWithShape="1">
          <a:blip r:embed="rId7">
            <a:alphaModFix/>
          </a:blip>
          <a:srcRect b="0" l="0" r="0" t="0"/>
          <a:stretch/>
        </p:blipFill>
        <p:spPr>
          <a:xfrm>
            <a:off x="5006340" y="1783080"/>
            <a:ext cx="3497580" cy="1433383"/>
          </a:xfrm>
          <a:prstGeom prst="rect">
            <a:avLst/>
          </a:prstGeom>
          <a:noFill/>
          <a:ln>
            <a:noFill/>
          </a:ln>
        </p:spPr>
      </p:pic>
      <p:sp>
        <p:nvSpPr>
          <p:cNvPr id="523" name="Google Shape;523;p35"/>
          <p:cNvSpPr txBox="1"/>
          <p:nvPr/>
        </p:nvSpPr>
        <p:spPr>
          <a:xfrm>
            <a:off x="5006340" y="3291840"/>
            <a:ext cx="3497580" cy="9601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900" u="none" cap="none" strike="noStrike">
                <a:solidFill>
                  <a:srgbClr val="272525"/>
                </a:solidFill>
                <a:latin typeface="Calibri"/>
                <a:ea typeface="Calibri"/>
                <a:cs typeface="Calibri"/>
                <a:sym typeface="Calibri"/>
              </a:rPr>
              <a:t>High ρ(m)</a:t>
            </a:r>
            <a:r>
              <a:rPr b="0" i="0" lang="en" sz="900" u="none" cap="none" strike="noStrike">
                <a:solidFill>
                  <a:srgbClr val="5F5C5C"/>
                </a:solidFill>
                <a:latin typeface="Calibri"/>
                <a:ea typeface="Calibri"/>
                <a:cs typeface="Calibri"/>
                <a:sym typeface="Calibri"/>
              </a:rPr>
              <a:t>  peak morning calling tracks sunrise as it shifts through the season: dawn drives the bird.</a:t>
            </a:r>
            <a:endParaRPr sz="1100"/>
          </a:p>
          <a:p>
            <a:pPr indent="0" lvl="0" marL="0" marR="0" rtl="0" algn="l">
              <a:lnSpc>
                <a:spcPct val="108000"/>
              </a:lnSpc>
              <a:spcBef>
                <a:spcPts val="400"/>
              </a:spcBef>
              <a:spcAft>
                <a:spcPts val="0"/>
              </a:spcAft>
              <a:buNone/>
            </a:pPr>
            <a:r>
              <a:rPr b="1" i="0" lang="en" sz="900" u="none" cap="none" strike="noStrike">
                <a:solidFill>
                  <a:srgbClr val="272525"/>
                </a:solidFill>
                <a:latin typeface="Calibri"/>
                <a:ea typeface="Calibri"/>
                <a:cs typeface="Calibri"/>
                <a:sym typeface="Calibri"/>
              </a:rPr>
              <a:t>High ρ(e)</a:t>
            </a:r>
            <a:r>
              <a:rPr b="0" i="0" lang="en" sz="900" u="none" cap="none" strike="noStrike">
                <a:solidFill>
                  <a:srgbClr val="5F5C5C"/>
                </a:solidFill>
                <a:latin typeface="Calibri"/>
                <a:ea typeface="Calibri"/>
                <a:cs typeface="Calibri"/>
                <a:sym typeface="Calibri"/>
              </a:rPr>
              <a:t>  the same for dusk.</a:t>
            </a:r>
            <a:endParaRPr sz="1100"/>
          </a:p>
          <a:p>
            <a:pPr indent="0" lvl="0" marL="0" marR="0" rtl="0" algn="l">
              <a:lnSpc>
                <a:spcPct val="108000"/>
              </a:lnSpc>
              <a:spcBef>
                <a:spcPts val="400"/>
              </a:spcBef>
              <a:spcAft>
                <a:spcPts val="0"/>
              </a:spcAft>
              <a:buNone/>
            </a:pPr>
            <a:r>
              <a:rPr b="1" i="0" lang="en" sz="900" u="none" cap="none" strike="noStrike">
                <a:solidFill>
                  <a:srgbClr val="272525"/>
                </a:solidFill>
                <a:latin typeface="Calibri"/>
                <a:ea typeface="Calibri"/>
                <a:cs typeface="Calibri"/>
                <a:sym typeface="Calibri"/>
              </a:rPr>
              <a:t>Low ρ</a:t>
            </a:r>
            <a:r>
              <a:rPr b="0" i="0" lang="en" sz="900" u="none" cap="none" strike="noStrike">
                <a:solidFill>
                  <a:srgbClr val="5F5C5C"/>
                </a:solidFill>
                <a:latin typeface="Calibri"/>
                <a:ea typeface="Calibri"/>
                <a:cs typeface="Calibri"/>
                <a:sym typeface="Calibri"/>
              </a:rPr>
              <a:t>  peak timing is set by something other than light: food, weather, competition.</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6"/>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30" name="Google Shape;530;p36"/>
          <p:cNvSpPr/>
          <p:nvPr/>
        </p:nvSpPr>
        <p:spPr>
          <a:xfrm>
            <a:off x="0" y="0"/>
            <a:ext cx="9144000" cy="514350"/>
          </a:xfrm>
          <a:prstGeom prst="rect">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31" name="Google Shape;531;p36"/>
          <p:cNvSpPr txBox="1"/>
          <p:nvPr/>
        </p:nvSpPr>
        <p:spPr>
          <a:xfrm>
            <a:off x="288036" y="34290"/>
            <a:ext cx="8565642" cy="44577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Limitations and what they imply</a:t>
            </a:r>
            <a:endParaRPr sz="1100"/>
          </a:p>
        </p:txBody>
      </p:sp>
      <p:sp>
        <p:nvSpPr>
          <p:cNvPr id="532" name="Google Shape;532;p36"/>
          <p:cNvSpPr/>
          <p:nvPr/>
        </p:nvSpPr>
        <p:spPr>
          <a:xfrm>
            <a:off x="493776" y="788670"/>
            <a:ext cx="3974211" cy="10629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33" name="Google Shape;533;p36"/>
          <p:cNvSpPr txBox="1"/>
          <p:nvPr/>
        </p:nvSpPr>
        <p:spPr>
          <a:xfrm>
            <a:off x="665226" y="912114"/>
            <a:ext cx="3631311"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Acoustics hears calls, not birds</a:t>
            </a:r>
            <a:endParaRPr sz="1100"/>
          </a:p>
        </p:txBody>
      </p:sp>
      <p:sp>
        <p:nvSpPr>
          <p:cNvPr id="534" name="Google Shape;534;p36"/>
          <p:cNvSpPr txBox="1"/>
          <p:nvPr/>
        </p:nvSpPr>
        <p:spPr>
          <a:xfrm>
            <a:off x="665226" y="1200150"/>
            <a:ext cx="3631311" cy="6172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A silent bird is invisible. Seasonal vocal patterns can make residents look migratory; eBird sightings are used as a cross-check.</a:t>
            </a:r>
            <a:endParaRPr sz="1100"/>
          </a:p>
        </p:txBody>
      </p:sp>
      <p:sp>
        <p:nvSpPr>
          <p:cNvPr id="535" name="Google Shape;535;p36"/>
          <p:cNvSpPr/>
          <p:nvPr/>
        </p:nvSpPr>
        <p:spPr>
          <a:xfrm>
            <a:off x="4673727" y="788670"/>
            <a:ext cx="3974211" cy="10629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36" name="Google Shape;536;p36"/>
          <p:cNvSpPr txBox="1"/>
          <p:nvPr/>
        </p:nvSpPr>
        <p:spPr>
          <a:xfrm>
            <a:off x="4845177" y="912114"/>
            <a:ext cx="3631311"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The confidence floor is permanent</a:t>
            </a:r>
            <a:endParaRPr sz="1100"/>
          </a:p>
        </p:txBody>
      </p:sp>
      <p:sp>
        <p:nvSpPr>
          <p:cNvPr id="537" name="Google Shape;537;p36"/>
          <p:cNvSpPr txBox="1"/>
          <p:nvPr/>
        </p:nvSpPr>
        <p:spPr>
          <a:xfrm>
            <a:off x="4845177" y="1200150"/>
            <a:ext cx="3631311" cy="6172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Detections below the run's threshold are never written. Sites processed at different thresholds have different floors, flagged in the index.</a:t>
            </a:r>
            <a:endParaRPr sz="1100"/>
          </a:p>
        </p:txBody>
      </p:sp>
      <p:sp>
        <p:nvSpPr>
          <p:cNvPr id="538" name="Google Shape;538;p36"/>
          <p:cNvSpPr/>
          <p:nvPr/>
        </p:nvSpPr>
        <p:spPr>
          <a:xfrm>
            <a:off x="493776" y="1968246"/>
            <a:ext cx="3974211" cy="10629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39" name="Google Shape;539;p36"/>
          <p:cNvSpPr txBox="1"/>
          <p:nvPr/>
        </p:nvSpPr>
        <p:spPr>
          <a:xfrm>
            <a:off x="665226" y="2091690"/>
            <a:ext cx="3631311"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Timestamps come from filenames</a:t>
            </a:r>
            <a:endParaRPr sz="1100"/>
          </a:p>
        </p:txBody>
      </p:sp>
      <p:sp>
        <p:nvSpPr>
          <p:cNvPr id="540" name="Google Shape;540;p36"/>
          <p:cNvSpPr txBox="1"/>
          <p:nvPr/>
        </p:nvSpPr>
        <p:spPr>
          <a:xfrm>
            <a:off x="665226" y="2379726"/>
            <a:ext cx="3631311" cy="6172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Date and hour are read from SPOT_YYYYMMDD_HHMMSS names. A file that breaks the convention keeps its detections but loses its place in time.</a:t>
            </a:r>
            <a:endParaRPr sz="1100"/>
          </a:p>
        </p:txBody>
      </p:sp>
      <p:sp>
        <p:nvSpPr>
          <p:cNvPr id="541" name="Google Shape;541;p36"/>
          <p:cNvSpPr/>
          <p:nvPr/>
        </p:nvSpPr>
        <p:spPr>
          <a:xfrm>
            <a:off x="4673727" y="1968246"/>
            <a:ext cx="3974211" cy="10629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42" name="Google Shape;542;p36"/>
          <p:cNvSpPr txBox="1"/>
          <p:nvPr/>
        </p:nvSpPr>
        <p:spPr>
          <a:xfrm>
            <a:off x="4845177" y="2091690"/>
            <a:ext cx="3631311"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Urban noise distorts indices</a:t>
            </a:r>
            <a:endParaRPr sz="1100"/>
          </a:p>
        </p:txBody>
      </p:sp>
      <p:sp>
        <p:nvSpPr>
          <p:cNvPr id="543" name="Google Shape;543;p36"/>
          <p:cNvSpPr txBox="1"/>
          <p:nvPr/>
        </p:nvSpPr>
        <p:spPr>
          <a:xfrm>
            <a:off x="4845177" y="2379726"/>
            <a:ext cx="3631311" cy="6172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Traffic hum inflates AEI; rain inflates ADI. Both are handled (NDSI, the rain classifier) but neither correction is perfect.</a:t>
            </a:r>
            <a:endParaRPr sz="1100"/>
          </a:p>
        </p:txBody>
      </p:sp>
      <p:sp>
        <p:nvSpPr>
          <p:cNvPr id="544" name="Google Shape;544;p36"/>
          <p:cNvSpPr/>
          <p:nvPr/>
        </p:nvSpPr>
        <p:spPr>
          <a:xfrm>
            <a:off x="493776" y="3147822"/>
            <a:ext cx="3974211" cy="10629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45" name="Google Shape;545;p36"/>
          <p:cNvSpPr txBox="1"/>
          <p:nvPr/>
        </p:nvSpPr>
        <p:spPr>
          <a:xfrm>
            <a:off x="665226" y="3271266"/>
            <a:ext cx="3631311"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Season length</a:t>
            </a:r>
            <a:endParaRPr sz="1100"/>
          </a:p>
        </p:txBody>
      </p:sp>
      <p:sp>
        <p:nvSpPr>
          <p:cNvPr id="546" name="Google Shape;546;p36"/>
          <p:cNvSpPr txBox="1"/>
          <p:nvPr/>
        </p:nvSpPr>
        <p:spPr>
          <a:xfrm>
            <a:off x="665226" y="3559302"/>
            <a:ext cx="3631311" cy="6172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SCI needs at least 60 days of recordings and the migration rule needs a full season; short deployments can only describe, not classify.</a:t>
            </a:r>
            <a:endParaRPr sz="1100"/>
          </a:p>
        </p:txBody>
      </p:sp>
      <p:sp>
        <p:nvSpPr>
          <p:cNvPr id="547" name="Google Shape;547;p36"/>
          <p:cNvSpPr/>
          <p:nvPr/>
        </p:nvSpPr>
        <p:spPr>
          <a:xfrm>
            <a:off x="4673727" y="3147822"/>
            <a:ext cx="3974211" cy="1062990"/>
          </a:xfrm>
          <a:prstGeom prst="roundRect">
            <a:avLst>
              <a:gd fmla="val 6000" name="adj"/>
            </a:avLst>
          </a:prstGeom>
          <a:solidFill>
            <a:srgbClr val="EEEEF8"/>
          </a:solidFill>
          <a:ln cap="flat" cmpd="sng" w="12700">
            <a:solidFill>
              <a:srgbClr val="C5C5E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48" name="Google Shape;548;p36"/>
          <p:cNvSpPr txBox="1"/>
          <p:nvPr/>
        </p:nvSpPr>
        <p:spPr>
          <a:xfrm>
            <a:off x="4845177" y="3271266"/>
            <a:ext cx="3631311" cy="2743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 sz="1300" u="none" cap="none" strike="noStrike">
                <a:solidFill>
                  <a:srgbClr val="272525"/>
                </a:solidFill>
                <a:latin typeface="Calibri"/>
                <a:ea typeface="Calibri"/>
                <a:cs typeface="Calibri"/>
                <a:sym typeface="Calibri"/>
              </a:rPr>
              <a:t>Thresholds are chosen, not learned</a:t>
            </a:r>
            <a:endParaRPr sz="1100"/>
          </a:p>
        </p:txBody>
      </p:sp>
      <p:sp>
        <p:nvSpPr>
          <p:cNvPr id="549" name="Google Shape;549;p36"/>
          <p:cNvSpPr txBox="1"/>
          <p:nvPr/>
        </p:nvSpPr>
        <p:spPr>
          <a:xfrm>
            <a:off x="4845177" y="3559302"/>
            <a:ext cx="3631311" cy="6172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 sz="1000" u="none" cap="none" strike="noStrike">
                <a:solidFill>
                  <a:srgbClr val="5F5C5C"/>
                </a:solidFill>
                <a:latin typeface="Calibri"/>
                <a:ea typeface="Calibri"/>
                <a:cs typeface="Calibri"/>
                <a:sym typeface="Calibri"/>
              </a:rPr>
              <a:t>0.3 confidence, 10 detections, 5 days, and the migration τ values were set by inspection against known species, so they may need re-tuning for a new region.</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7"/>
          <p:cNvSpPr/>
          <p:nvPr/>
        </p:nvSpPr>
        <p:spPr>
          <a:xfrm>
            <a:off x="0" y="0"/>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6" name="Google Shape;556;p37"/>
          <p:cNvSpPr/>
          <p:nvPr/>
        </p:nvSpPr>
        <p:spPr>
          <a:xfrm>
            <a:off x="2674620" y="2023110"/>
            <a:ext cx="3806190" cy="960120"/>
          </a:xfrm>
          <a:prstGeom prst="roundRect">
            <a:avLst>
              <a:gd fmla="val 8000" name="adj"/>
            </a:avLst>
          </a:prstGeom>
          <a:solidFill>
            <a:srgbClr val="333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7" name="Google Shape;557;p37"/>
          <p:cNvSpPr txBox="1"/>
          <p:nvPr/>
        </p:nvSpPr>
        <p:spPr>
          <a:xfrm>
            <a:off x="2674620" y="2023110"/>
            <a:ext cx="3806190" cy="960120"/>
          </a:xfrm>
          <a:prstGeom prst="rect">
            <a:avLst/>
          </a:prstGeom>
          <a:noFill/>
          <a:ln>
            <a:noFill/>
          </a:ln>
        </p:spPr>
        <p:txBody>
          <a:bodyPr anchorCtr="0" anchor="ctr" bIns="0" lIns="0" spcFirstLastPara="1" rIns="0" wrap="square" tIns="0">
            <a:spAutoFit/>
          </a:bodyPr>
          <a:lstStyle/>
          <a:p>
            <a:pPr indent="0" lvl="0" marL="0" marR="0" rtl="0" algn="ctr">
              <a:lnSpc>
                <a:spcPct val="108000"/>
              </a:lnSpc>
              <a:spcBef>
                <a:spcPts val="0"/>
              </a:spcBef>
              <a:spcAft>
                <a:spcPts val="0"/>
              </a:spcAft>
              <a:buNone/>
            </a:pPr>
            <a:r>
              <a:rPr b="0" i="0" lang="en" sz="1700" u="none" cap="none" strike="noStrike">
                <a:solidFill>
                  <a:srgbClr val="FFFFFF"/>
                </a:solidFill>
                <a:latin typeface="Calibri"/>
                <a:ea typeface="Calibri"/>
                <a:cs typeface="Calibri"/>
                <a:sym typeface="Calibri"/>
              </a:rPr>
              <a:t>Thank you</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